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8" r:id="rId10"/>
    <p:sldId id="265" r:id="rId11"/>
    <p:sldId id="266" r:id="rId12"/>
    <p:sldId id="267" r:id="rId13"/>
    <p:sldId id="258" r:id="rId14"/>
  </p:sldIdLst>
  <p:sldSz cx="12192000" cy="6858000"/>
  <p:notesSz cx="6858000" cy="9144000"/>
  <p:embeddedFontLst>
    <p:embeddedFont>
      <p:font typeface="Montserrat" pitchFamily="2" charset="0"/>
      <p:regular r:id="rId16"/>
      <p:bold r:id="rId17"/>
      <p:italic r:id="rId18"/>
      <p:boldItalic r:id="rId19"/>
    </p:embeddedFont>
    <p:embeddedFont>
      <p:font typeface="Montserrat Medium" panose="020F0502020204030204" pitchFamily="34" charset="0"/>
      <p:regular r:id="rId20"/>
      <p:bold r:id="rId21"/>
      <p:italic r:id="rId22"/>
      <p:boldItalic r:id="rId23"/>
    </p:embeddedFont>
    <p:embeddedFont>
      <p:font typeface="Montserrat SemiBold" panose="020F0502020204030204" pitchFamily="34" charset="0"/>
      <p:regular r:id="rId24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4988">
          <p15:clr>
            <a:srgbClr val="A4A3A4"/>
          </p15:clr>
        </p15:guide>
        <p15:guide id="2" pos="454">
          <p15:clr>
            <a:srgbClr val="9AA0A6"/>
          </p15:clr>
        </p15:guide>
        <p15:guide id="3" orient="horz" pos="425">
          <p15:clr>
            <a:srgbClr val="9AA0A6"/>
          </p15:clr>
        </p15:guide>
        <p15:guide id="4" orient="horz" pos="3895">
          <p15:clr>
            <a:srgbClr val="9AA0A6"/>
          </p15:clr>
        </p15:guide>
        <p15:guide id="5" pos="7226">
          <p15:clr>
            <a:srgbClr val="9AA0A6"/>
          </p15:clr>
        </p15:guide>
        <p15:guide id="6" pos="2721">
          <p15:clr>
            <a:srgbClr val="9AA0A6"/>
          </p15:clr>
        </p15:guide>
        <p15:guide id="7" pos="3840">
          <p15:clr>
            <a:srgbClr val="9AA0A6"/>
          </p15:clr>
        </p15:guide>
        <p15:guide id="8" orient="horz" pos="432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915"/>
    <p:restoredTop sz="69043"/>
  </p:normalViewPr>
  <p:slideViewPr>
    <p:cSldViewPr snapToGrid="0">
      <p:cViewPr varScale="1">
        <p:scale>
          <a:sx n="52" d="100"/>
          <a:sy n="52" d="100"/>
        </p:scale>
        <p:origin x="1280" y="184"/>
      </p:cViewPr>
      <p:guideLst>
        <p:guide pos="4988"/>
        <p:guide pos="454"/>
        <p:guide orient="horz" pos="425"/>
        <p:guide orient="horz" pos="3895"/>
        <p:guide pos="7226"/>
        <p:guide pos="2721"/>
        <p:guide pos="3840"/>
        <p:guide orient="horz" pos="43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spcAft>
                <a:spcPts val="600"/>
              </a:spcAft>
            </a:pPr>
            <a:r>
              <a:rPr lang="ru-RU" dirty="0">
                <a:solidFill>
                  <a:srgbClr val="000000"/>
                </a:solidFill>
                <a:effectLst/>
                <a:latin typeface="+mn-lt"/>
              </a:rPr>
              <a:t>Добрый день! Я, </a:t>
            </a:r>
            <a:r>
              <a:rPr lang="ru-RU" dirty="0" err="1">
                <a:solidFill>
                  <a:srgbClr val="000000"/>
                </a:solidFill>
                <a:effectLst/>
                <a:latin typeface="+mn-lt"/>
              </a:rPr>
              <a:t>Пахунов</a:t>
            </a:r>
            <a:r>
              <a:rPr lang="ru-RU" dirty="0">
                <a:solidFill>
                  <a:srgbClr val="000000"/>
                </a:solidFill>
                <a:effectLst/>
                <a:latin typeface="+mn-lt"/>
              </a:rPr>
              <a:t> Сергей Сергеевич, являюсь слушателем потока САБДИС-804 по дополнительной профессиональной программе профессиональной переподготовки "Специалист по аналитике и базам данных в информационных системах". Мой преподаватель — Минаев Владимир Алексеевич. </a:t>
            </a:r>
          </a:p>
        </p:txBody>
      </p:sp>
      <p:sp>
        <p:nvSpPr>
          <p:cNvPr id="87" name="Google Shape;87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1</a:t>
            </a:fld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64a65db51b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64a65db51b_0_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spcAft>
                <a:spcPts val="600"/>
              </a:spcAft>
            </a:pPr>
            <a:r>
              <a:rPr lang="ru-RU" dirty="0">
                <a:solidFill>
                  <a:srgbClr val="000000"/>
                </a:solidFill>
                <a:effectLst/>
                <a:latin typeface="+mn-lt"/>
              </a:rPr>
              <a:t>Представляю свою итоговую аттестационную работу на тему: "Алгоритмизация таргетирования: проектирование скоринговой модели ресторана."</a:t>
            </a:r>
          </a:p>
          <a:p>
            <a:pPr>
              <a:spcAft>
                <a:spcPts val="600"/>
              </a:spcAft>
            </a:pPr>
            <a:r>
              <a:rPr lang="ru-RU" dirty="0">
                <a:solidFill>
                  <a:srgbClr val="000000"/>
                </a:solidFill>
                <a:effectLst/>
                <a:latin typeface="+mn-lt"/>
              </a:rPr>
              <a:t>Цель проекта — подготовить аналитический отчет для менеджмента, определить паттерны потребительского поведения, выявить операционные неэффективности и подготовить рекомендации по повышению маржинальности заведения.</a:t>
            </a:r>
          </a:p>
        </p:txBody>
      </p:sp>
      <p:sp>
        <p:nvSpPr>
          <p:cNvPr id="96" name="Google Shape;96;g364a65db51b_0_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2</a:t>
            </a:fld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64a65db51b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64a65db51b_0_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l">
              <a:spcAft>
                <a:spcPts val="1200"/>
              </a:spcAft>
            </a:pPr>
            <a:br>
              <a:rPr lang="ru-RU" b="0" i="0" u="none" strike="noStrike" dirty="0">
                <a:solidFill>
                  <a:srgbClr val="000000"/>
                </a:solidFill>
                <a:effectLst/>
                <a:latin typeface="+mn-lt"/>
              </a:rPr>
            </a:br>
            <a:r>
              <a:rPr lang="ru-RU" b="0" i="0" u="none" strike="noStrike" dirty="0">
                <a:solidFill>
                  <a:srgbClr val="000000"/>
                </a:solidFill>
                <a:effectLst/>
                <a:latin typeface="+mn-lt"/>
              </a:rPr>
              <a:t>Аналитика начинается с проверки качества данных. </a:t>
            </a:r>
          </a:p>
          <a:p>
            <a:pPr algn="l">
              <a:spcAft>
                <a:spcPts val="1200"/>
              </a:spcAft>
            </a:pPr>
            <a:r>
              <a:rPr lang="ru-RU" b="0" i="0" u="none" strike="noStrike" dirty="0" err="1">
                <a:solidFill>
                  <a:srgbClr val="000000"/>
                </a:solidFill>
                <a:effectLst/>
                <a:latin typeface="+mn-lt"/>
              </a:rPr>
              <a:t>Датасет</a:t>
            </a:r>
            <a:r>
              <a:rPr lang="ru-RU" b="0" i="0" u="none" strike="noStrike" dirty="0">
                <a:solidFill>
                  <a:srgbClr val="000000"/>
                </a:solidFill>
                <a:effectLst/>
                <a:latin typeface="+mn-lt"/>
              </a:rPr>
              <a:t> состоит из </a:t>
            </a:r>
            <a:r>
              <a:rPr lang="ru-RU" b="1" i="0" u="none" strike="noStrike" dirty="0">
                <a:solidFill>
                  <a:srgbClr val="000000"/>
                </a:solidFill>
                <a:effectLst/>
                <a:latin typeface="+mn-lt"/>
              </a:rPr>
              <a:t>244 записей</a:t>
            </a:r>
            <a:r>
              <a:rPr lang="ru-RU" b="0" i="0" u="none" strike="noStrike" dirty="0">
                <a:solidFill>
                  <a:srgbClr val="000000"/>
                </a:solidFill>
                <a:effectLst/>
                <a:latin typeface="+mn-lt"/>
              </a:rPr>
              <a:t> и 7 ключевых признаков.</a:t>
            </a:r>
          </a:p>
        </p:txBody>
      </p:sp>
      <p:sp>
        <p:nvSpPr>
          <p:cNvPr id="96" name="Google Shape;96;g364a65db51b_0_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3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786544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64a65db51b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64a65db51b_0_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l">
              <a:spcBef>
                <a:spcPts val="900"/>
              </a:spcBef>
            </a:pPr>
            <a:r>
              <a:rPr lang="ru-RU" b="0" i="0" u="none" strike="noStrike" dirty="0">
                <a:solidFill>
                  <a:srgbClr val="000000"/>
                </a:solidFill>
                <a:effectLst/>
                <a:latin typeface="+mn-lt"/>
              </a:rPr>
              <a:t>Мы провели технический аудит: </a:t>
            </a:r>
          </a:p>
          <a:p>
            <a:pPr algn="l">
              <a:spcBef>
                <a:spcPts val="900"/>
              </a:spcBef>
            </a:pPr>
            <a:r>
              <a:rPr lang="ru-RU" b="0" i="0" u="none" strike="noStrike" dirty="0">
                <a:solidFill>
                  <a:srgbClr val="000000"/>
                </a:solidFill>
                <a:effectLst/>
                <a:latin typeface="+mn-lt"/>
              </a:rPr>
              <a:t>- пропущенных значений не обнаружено, </a:t>
            </a:r>
          </a:p>
          <a:p>
            <a:pPr algn="l">
              <a:spcBef>
                <a:spcPts val="900"/>
              </a:spcBef>
            </a:pPr>
            <a:r>
              <a:rPr lang="ru-RU" b="0" i="0" u="none" strike="noStrike" dirty="0">
                <a:solidFill>
                  <a:srgbClr val="000000"/>
                </a:solidFill>
                <a:effectLst/>
                <a:latin typeface="+mn-lt"/>
              </a:rPr>
              <a:t>- был найден и удален один дубликат. </a:t>
            </a:r>
          </a:p>
          <a:p>
            <a:pPr algn="l">
              <a:spcBef>
                <a:spcPts val="900"/>
              </a:spcBef>
            </a:pPr>
            <a:r>
              <a:rPr lang="ru-RU" b="0" i="0" u="none" strike="noStrike" dirty="0">
                <a:solidFill>
                  <a:srgbClr val="000000"/>
                </a:solidFill>
                <a:effectLst/>
                <a:latin typeface="+mn-lt"/>
              </a:rPr>
              <a:t>-категориальные поля —  пол, время визита и статус курения — стандартизированы. Данные признаны надежными, и мы можем переходить к расчету базовой экономики заведения</a:t>
            </a:r>
          </a:p>
        </p:txBody>
      </p:sp>
      <p:sp>
        <p:nvSpPr>
          <p:cNvPr id="96" name="Google Shape;96;g364a65db51b_0_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4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317983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64a65db51b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64a65db51b_0_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l">
              <a:spcAft>
                <a:spcPts val="1199"/>
              </a:spcAft>
            </a:pPr>
            <a:r>
              <a:rPr lang="ru-RU" b="0" i="0" u="none" strike="noStrike" dirty="0">
                <a:solidFill>
                  <a:srgbClr val="000000"/>
                </a:solidFill>
                <a:effectLst/>
                <a:latin typeface="+mn-lt"/>
              </a:rPr>
              <a:t>Средний чек нашего заведения составляет </a:t>
            </a:r>
            <a:r>
              <a:rPr lang="ru-RU" b="1" i="0" u="none" strike="noStrike" dirty="0">
                <a:solidFill>
                  <a:srgbClr val="000000"/>
                </a:solidFill>
                <a:effectLst/>
                <a:latin typeface="+mn-lt"/>
              </a:rPr>
              <a:t>19 долларов 78 центов</a:t>
            </a:r>
            <a:r>
              <a:rPr lang="ru-RU" b="0" i="0" u="none" strike="noStrike" dirty="0">
                <a:solidFill>
                  <a:srgbClr val="000000"/>
                </a:solidFill>
                <a:effectLst/>
                <a:latin typeface="+mn-lt"/>
              </a:rPr>
              <a:t>, а средние чаевые — ровно </a:t>
            </a:r>
            <a:r>
              <a:rPr lang="ru-RU" b="1" i="0" u="none" strike="noStrike" dirty="0">
                <a:solidFill>
                  <a:srgbClr val="000000"/>
                </a:solidFill>
                <a:effectLst/>
                <a:latin typeface="+mn-lt"/>
              </a:rPr>
              <a:t>3 доллара</a:t>
            </a:r>
            <a:r>
              <a:rPr lang="ru-RU" b="0" i="0" u="none" strike="noStrike" dirty="0">
                <a:solidFill>
                  <a:srgbClr val="000000"/>
                </a:solidFill>
                <a:effectLst/>
                <a:latin typeface="+mn-lt"/>
              </a:rPr>
              <a:t>. При этом медиана чека заметно ниже среднего — 17.80.</a:t>
            </a:r>
          </a:p>
          <a:p>
            <a:pPr algn="l">
              <a:spcBef>
                <a:spcPts val="899"/>
              </a:spcBef>
            </a:pPr>
            <a:r>
              <a:rPr lang="ru-RU" b="0" i="0" u="none" strike="noStrike" dirty="0">
                <a:solidFill>
                  <a:srgbClr val="000000"/>
                </a:solidFill>
                <a:effectLst/>
                <a:latin typeface="+mn-lt"/>
              </a:rPr>
              <a:t>Графики распределения имеют правостороннюю асимметрию, экономику нашего ресторана формирует относительно недорогой сегмент. Однако есть слой  "премиальных" транзакций с чеками свыше 40 долларов, которые существенно сдвигают среднее значение вверх.</a:t>
            </a:r>
          </a:p>
        </p:txBody>
      </p:sp>
      <p:sp>
        <p:nvSpPr>
          <p:cNvPr id="96" name="Google Shape;96;g364a65db51b_0_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5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63168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64a65db51b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64a65db51b_0_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l">
              <a:spcAft>
                <a:spcPts val="1199"/>
              </a:spcAft>
            </a:pPr>
            <a:r>
              <a:rPr lang="ru-RU" b="0" i="0" u="none" strike="noStrike" dirty="0">
                <a:solidFill>
                  <a:srgbClr val="000000"/>
                </a:solidFill>
                <a:effectLst/>
                <a:latin typeface="+mn-lt"/>
              </a:rPr>
              <a:t>В относительной метрике — </a:t>
            </a:r>
            <a:r>
              <a:rPr lang="ru-RU" b="1" i="0" u="none" strike="noStrike" dirty="0">
                <a:solidFill>
                  <a:srgbClr val="000000"/>
                </a:solidFill>
                <a:effectLst/>
                <a:latin typeface="+mn-lt"/>
              </a:rPr>
              <a:t>процент чаевых от общей суммы счета</a:t>
            </a:r>
            <a:r>
              <a:rPr lang="ru-RU" b="0" i="0" u="none" strike="noStrike" dirty="0">
                <a:solidFill>
                  <a:srgbClr val="000000"/>
                </a:solidFill>
                <a:effectLst/>
                <a:latin typeface="+mn-lt"/>
              </a:rPr>
              <a:t> составляет </a:t>
            </a:r>
            <a:r>
              <a:rPr lang="ru-RU" b="1" i="0" u="none" strike="noStrike" dirty="0">
                <a:solidFill>
                  <a:srgbClr val="000000"/>
                </a:solidFill>
                <a:effectLst/>
                <a:latin typeface="+mn-lt"/>
              </a:rPr>
              <a:t>16%</a:t>
            </a:r>
            <a:r>
              <a:rPr lang="ru-RU" b="0" i="0" u="none" strike="noStrike" dirty="0">
                <a:solidFill>
                  <a:srgbClr val="000000"/>
                </a:solidFill>
                <a:effectLst/>
                <a:latin typeface="+mn-lt"/>
              </a:rPr>
              <a:t>.</a:t>
            </a:r>
          </a:p>
          <a:p>
            <a:pPr algn="l">
              <a:spcBef>
                <a:spcPts val="899"/>
              </a:spcBef>
            </a:pPr>
            <a:r>
              <a:rPr lang="ru-RU" b="0" i="0" u="none" strike="noStrike" dirty="0">
                <a:solidFill>
                  <a:srgbClr val="000000"/>
                </a:solidFill>
                <a:effectLst/>
                <a:latin typeface="+mn-lt"/>
              </a:rPr>
              <a:t>Анализ аномалий выявил что самый высокий процент чаевых — до </a:t>
            </a:r>
            <a:r>
              <a:rPr lang="ru-RU" b="1" i="0" u="none" strike="noStrike" dirty="0">
                <a:solidFill>
                  <a:srgbClr val="000000"/>
                </a:solidFill>
                <a:effectLst/>
                <a:latin typeface="+mn-lt"/>
              </a:rPr>
              <a:t>71%</a:t>
            </a:r>
            <a:r>
              <a:rPr lang="ru-RU" b="0" i="0" u="none" strike="noStrike" dirty="0">
                <a:solidFill>
                  <a:srgbClr val="000000"/>
                </a:solidFill>
                <a:effectLst/>
                <a:latin typeface="+mn-lt"/>
              </a:rPr>
              <a:t> — клиенты оставляют на самые маленькие чеки, до 10 долларов. И наоборот, на самые крупные чеки процент чаевых ближе к минимальной границе в 5%, хотя в абсолютном выражении сумма остается весомой. Это помогает нам видеть отношение гостя к сервису независимо от стоимости блюда.</a:t>
            </a:r>
          </a:p>
        </p:txBody>
      </p:sp>
      <p:sp>
        <p:nvSpPr>
          <p:cNvPr id="96" name="Google Shape;96;g364a65db51b_0_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6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612563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64a65db51b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64a65db51b_0_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spcAft>
                <a:spcPts val="1199"/>
              </a:spcAft>
            </a:pPr>
            <a:r>
              <a:rPr lang="ru-RU" b="0" u="none" strike="noStrike" dirty="0">
                <a:effectLst/>
                <a:latin typeface="+mn-lt"/>
              </a:rPr>
              <a:t>Самое важное для планирования графиков — фактор времени. Вечернее время генерирует </a:t>
            </a:r>
            <a:r>
              <a:rPr lang="ru-RU" b="1" u="none" strike="noStrike" dirty="0">
                <a:effectLst/>
                <a:latin typeface="+mn-lt"/>
              </a:rPr>
              <a:t>в 3 раза больший поток транзакций</a:t>
            </a:r>
            <a:r>
              <a:rPr lang="ru-RU" b="0" u="none" strike="noStrike" dirty="0">
                <a:effectLst/>
                <a:latin typeface="+mn-lt"/>
              </a:rPr>
              <a:t> и значительно более высокий средний чек, чем обеденное.</a:t>
            </a:r>
            <a:br>
              <a:rPr lang="ru-RU" b="0" u="none" strike="noStrike" dirty="0">
                <a:effectLst/>
                <a:latin typeface="+mn-lt"/>
              </a:rPr>
            </a:br>
            <a:r>
              <a:rPr lang="ru-RU" b="0" u="none" strike="noStrike" dirty="0">
                <a:effectLst/>
                <a:latin typeface="+mn-lt"/>
              </a:rPr>
              <a:t>В Субботу и воскресенье — главная выручка. Но в пятницу объем заказов минимален (всего 19 чеков за выборку), но средний чек держится на уровне субботы!</a:t>
            </a:r>
          </a:p>
          <a:p>
            <a:pPr>
              <a:spcBef>
                <a:spcPts val="899"/>
              </a:spcBef>
            </a:pPr>
            <a:r>
              <a:rPr lang="ru-RU" b="1" u="none" strike="noStrike" dirty="0">
                <a:effectLst/>
                <a:latin typeface="+mn-lt"/>
              </a:rPr>
              <a:t>Вывод:</a:t>
            </a:r>
            <a:r>
              <a:rPr lang="ru-RU" b="0" u="none" strike="noStrike" dirty="0">
                <a:effectLst/>
                <a:latin typeface="+mn-lt"/>
              </a:rPr>
              <a:t> Обед и будние дни — это простаивающий актив заведения. </a:t>
            </a:r>
          </a:p>
        </p:txBody>
      </p:sp>
      <p:sp>
        <p:nvSpPr>
          <p:cNvPr id="96" name="Google Shape;96;g364a65db51b_0_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7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653448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64a65db51b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64a65db51b_0_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l">
              <a:spcAft>
                <a:spcPts val="1199"/>
              </a:spcAft>
            </a:pPr>
            <a:r>
              <a:rPr lang="ru-RU" b="0" i="0" u="none" strike="noStrike" dirty="0">
                <a:solidFill>
                  <a:srgbClr val="000000"/>
                </a:solidFill>
                <a:effectLst/>
                <a:latin typeface="+mn-lt"/>
              </a:rPr>
              <a:t>Мужчины в среднем закрывают более высокие чеки и оставляют чуть большие абсолютные чаевые, чем женщины.</a:t>
            </a:r>
          </a:p>
          <a:p>
            <a:pPr algn="l">
              <a:spcBef>
                <a:spcPts val="899"/>
              </a:spcBef>
              <a:spcAft>
                <a:spcPts val="1199"/>
              </a:spcAft>
            </a:pPr>
            <a:r>
              <a:rPr lang="ru-RU" b="0" i="0" u="none" strike="noStrike" dirty="0">
                <a:solidFill>
                  <a:srgbClr val="000000"/>
                </a:solidFill>
                <a:effectLst/>
                <a:latin typeface="+mn-lt"/>
              </a:rPr>
              <a:t>Курящие компании демонстрируют повышенную импульсивность. Разброс размера чаевых и относительного процента у них значительно шире, чем у некурящих гостей.</a:t>
            </a:r>
          </a:p>
          <a:p>
            <a:pPr algn="l">
              <a:spcBef>
                <a:spcPts val="899"/>
              </a:spcBef>
            </a:pPr>
            <a:r>
              <a:rPr lang="ru-RU" b="0" i="0" u="none" strike="noStrike" dirty="0">
                <a:solidFill>
                  <a:srgbClr val="000000"/>
                </a:solidFill>
                <a:effectLst/>
                <a:latin typeface="+mn-lt"/>
              </a:rPr>
              <a:t>Вывод: оценивать гостей только по полу нельзя — поведенческие факторы и контекст визита влияют на чек гораздо сильнее.</a:t>
            </a:r>
          </a:p>
        </p:txBody>
      </p:sp>
      <p:sp>
        <p:nvSpPr>
          <p:cNvPr id="96" name="Google Shape;96;g364a65db51b_0_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8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0581846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0" i="0" u="none" strike="noStrike" dirty="0">
                <a:solidFill>
                  <a:srgbClr val="000000"/>
                </a:solidFill>
                <a:effectLst/>
                <a:latin typeface="+mn-lt"/>
              </a:rPr>
              <a:t>Мы проверили разницу между обедом и ужином с помощью Т-критерия Стьюдента. Значение </a:t>
            </a:r>
            <a:r>
              <a:rPr lang="en" b="1" i="0" u="none" strike="noStrike" dirty="0">
                <a:solidFill>
                  <a:srgbClr val="000000"/>
                </a:solidFill>
                <a:effectLst/>
                <a:latin typeface="+mn-lt"/>
              </a:rPr>
              <a:t>p-value </a:t>
            </a:r>
            <a:r>
              <a:rPr lang="ru-RU" b="1" i="0" u="none" strike="noStrike" dirty="0">
                <a:solidFill>
                  <a:srgbClr val="000000"/>
                </a:solidFill>
                <a:effectLst/>
                <a:latin typeface="+mn-lt"/>
              </a:rPr>
              <a:t>составило 0.0332</a:t>
            </a:r>
            <a:r>
              <a:rPr lang="ru-RU" b="0" i="0" u="none" strike="noStrike" dirty="0">
                <a:solidFill>
                  <a:srgbClr val="000000"/>
                </a:solidFill>
                <a:effectLst/>
                <a:latin typeface="+mn-lt"/>
              </a:rPr>
              <a:t>, что строго ниже порога 0.05. Разница в чеках на одного человека — 7.32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+mn-lt"/>
              </a:rPr>
              <a:t>$</a:t>
            </a:r>
            <a:r>
              <a:rPr lang="ru-RU" b="0" i="0" u="none" strike="noStrike" dirty="0">
                <a:solidFill>
                  <a:srgbClr val="000000"/>
                </a:solidFill>
                <a:effectLst/>
                <a:latin typeface="+mn-lt"/>
              </a:rPr>
              <a:t> в обед против 8.11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+mn-lt"/>
              </a:rPr>
              <a:t>$</a:t>
            </a:r>
            <a:r>
              <a:rPr lang="ru-RU" b="0" i="0" u="none" strike="noStrike" dirty="0">
                <a:solidFill>
                  <a:srgbClr val="000000"/>
                </a:solidFill>
                <a:effectLst/>
                <a:latin typeface="+mn-lt"/>
              </a:rPr>
              <a:t> вечером — доказана математически.</a:t>
            </a:r>
            <a:endParaRPr lang="ru-RU" dirty="0">
              <a:latin typeface="+mn-lt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fld>
            <a:endParaRPr lang="ru-RU"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1059177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64a65db51b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64a65db51b_0_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l">
              <a:spcAft>
                <a:spcPts val="1199"/>
              </a:spcAft>
            </a:pPr>
            <a:r>
              <a:rPr lang="ru-RU" b="1" i="0" u="none" strike="noStrike" dirty="0">
                <a:solidFill>
                  <a:srgbClr val="000000"/>
                </a:solidFill>
                <a:effectLst/>
                <a:latin typeface="+mn-lt"/>
              </a:rPr>
              <a:t>Сегментация по размеру компании</a:t>
            </a:r>
            <a:r>
              <a:rPr lang="ru-RU" b="0" i="0" u="none" strike="noStrike" dirty="0">
                <a:solidFill>
                  <a:srgbClr val="000000"/>
                </a:solidFill>
                <a:effectLst/>
                <a:latin typeface="+mn-lt"/>
              </a:rPr>
              <a:t> выявила что с ростом количества гостей за столом абсолютная выручка растет, но удельная эффективность падает.</a:t>
            </a:r>
          </a:p>
          <a:p>
            <a:pPr algn="l">
              <a:spcBef>
                <a:spcPts val="899"/>
              </a:spcBef>
              <a:spcAft>
                <a:spcPts val="1199"/>
              </a:spcAft>
            </a:pPr>
            <a:r>
              <a:rPr lang="ru-RU" b="0" i="0" u="none" strike="noStrike" dirty="0">
                <a:solidFill>
                  <a:srgbClr val="000000"/>
                </a:solidFill>
                <a:effectLst/>
                <a:latin typeface="+mn-lt"/>
              </a:rPr>
              <a:t>Средний чек на одного человека и процент чаевых максимальны на столах для двоих и снижаются к крупным группам из 5–6 человек.</a:t>
            </a:r>
          </a:p>
          <a:p>
            <a:pPr algn="l">
              <a:spcBef>
                <a:spcPts val="899"/>
              </a:spcBef>
            </a:pPr>
            <a:r>
              <a:rPr lang="ru-RU" b="0" i="0" u="none" strike="noStrike" dirty="0">
                <a:solidFill>
                  <a:srgbClr val="000000"/>
                </a:solidFill>
                <a:effectLst/>
                <a:latin typeface="+mn-lt"/>
              </a:rPr>
              <a:t>Большие компании заказывают более дешевые комбо-сеты, и удерживают столы дольше, снижая оборачиваемость мест.</a:t>
            </a:r>
          </a:p>
        </p:txBody>
      </p:sp>
      <p:sp>
        <p:nvSpPr>
          <p:cNvPr id="96" name="Google Shape;96;g364a65db51b_0_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10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0475558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64a65db51b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64a65db51b_0_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l">
              <a:spcBef>
                <a:spcPts val="899"/>
              </a:spcBef>
              <a:spcAft>
                <a:spcPts val="1199"/>
              </a:spcAft>
            </a:pPr>
            <a:r>
              <a:rPr lang="ru-RU" b="0" i="0" u="none" strike="noStrike" dirty="0">
                <a:solidFill>
                  <a:srgbClr val="000000"/>
                </a:solidFill>
                <a:effectLst/>
                <a:latin typeface="+mn-lt"/>
              </a:rPr>
              <a:t>Диаграмма рассеяния четко показала, что лояльность клиентов стабильна только на небольших чеках. В премиальном сегменте фиксируются как максимальные чаевые, так и критические просадки.</a:t>
            </a:r>
          </a:p>
          <a:p>
            <a:pPr algn="l">
              <a:spcBef>
                <a:spcPts val="899"/>
              </a:spcBef>
            </a:pPr>
            <a:r>
              <a:rPr lang="ru-RU" b="0" i="0" u="none" strike="noStrike" dirty="0">
                <a:solidFill>
                  <a:srgbClr val="000000"/>
                </a:solidFill>
                <a:effectLst/>
                <a:latin typeface="+mn-lt"/>
              </a:rPr>
              <a:t>Итоговое дерево сегментов доказывает, что дорогой сектор полностью формируется в вечернее время конца недели и занимает </a:t>
            </a:r>
            <a:r>
              <a:rPr lang="ru-RU" b="0" i="0" u="none" strike="noStrike" dirty="0" err="1">
                <a:solidFill>
                  <a:srgbClr val="000000"/>
                </a:solidFill>
                <a:effectLst/>
                <a:latin typeface="+mn-lt"/>
              </a:rPr>
              <a:t>бОльшую</a:t>
            </a:r>
            <a:r>
              <a:rPr lang="ru-RU" b="0" i="0" u="none" strike="noStrike" dirty="0">
                <a:solidFill>
                  <a:srgbClr val="000000"/>
                </a:solidFill>
                <a:effectLst/>
                <a:latin typeface="+mn-lt"/>
              </a:rPr>
              <a:t> долю в общей выручке.</a:t>
            </a:r>
          </a:p>
        </p:txBody>
      </p:sp>
      <p:sp>
        <p:nvSpPr>
          <p:cNvPr id="96" name="Google Shape;96;g364a65db51b_0_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11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0058289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spcAft>
                <a:spcPts val="1199"/>
              </a:spcAft>
            </a:pPr>
            <a:r>
              <a:rPr lang="ru-RU" b="0" i="0" u="none" strike="noStrike" dirty="0">
                <a:solidFill>
                  <a:srgbClr val="000000"/>
                </a:solidFill>
                <a:effectLst/>
                <a:latin typeface="+mn-lt"/>
              </a:rPr>
              <a:t>На основе анализа я предлагаю три шага для оптимизации бизнеса:</a:t>
            </a:r>
          </a:p>
          <a:p>
            <a:pPr algn="l">
              <a:spcBef>
                <a:spcPts val="899"/>
              </a:spcBef>
              <a:spcAft>
                <a:spcPts val="899"/>
              </a:spcAft>
              <a:buFont typeface="+mj-lt"/>
              <a:buAutoNum type="arabicPeriod"/>
            </a:pPr>
            <a:r>
              <a:rPr lang="ru-RU" b="1" i="0" u="none" strike="noStrike" dirty="0">
                <a:solidFill>
                  <a:srgbClr val="000000"/>
                </a:solidFill>
                <a:effectLst/>
                <a:latin typeface="+mn-lt"/>
              </a:rPr>
              <a:t>Реорганизация зала:</a:t>
            </a:r>
            <a:r>
              <a:rPr lang="ru-RU" b="0" i="0" u="none" strike="noStrike" dirty="0">
                <a:solidFill>
                  <a:srgbClr val="000000"/>
                </a:solidFill>
                <a:effectLst/>
                <a:latin typeface="+mn-lt"/>
              </a:rPr>
              <a:t> Нам невыгодно держать столы на 6 человек.  Нужны модульные столы-трансформеры для двоих, так как пары</a:t>
            </a:r>
            <a:r>
              <a:rPr lang="en" b="0" i="0" u="none" strike="noStrike" dirty="0">
                <a:solidFill>
                  <a:srgbClr val="000000"/>
                </a:solidFill>
                <a:effectLst/>
                <a:latin typeface="+mn-lt"/>
              </a:rPr>
              <a:t> — </a:t>
            </a:r>
            <a:r>
              <a:rPr lang="ru-RU" b="0" i="0" u="none" strike="noStrike" dirty="0">
                <a:solidFill>
                  <a:srgbClr val="000000"/>
                </a:solidFill>
                <a:effectLst/>
                <a:latin typeface="+mn-lt"/>
              </a:rPr>
              <a:t>самый частый и эффективный гость.</a:t>
            </a:r>
          </a:p>
          <a:p>
            <a:pPr algn="l">
              <a:spcBef>
                <a:spcPts val="899"/>
              </a:spcBef>
              <a:spcAft>
                <a:spcPts val="899"/>
              </a:spcAft>
              <a:buFont typeface="+mj-lt"/>
              <a:buAutoNum type="arabicPeriod"/>
            </a:pPr>
            <a:r>
              <a:rPr lang="ru-RU" b="1" i="0" u="none" strike="noStrike" dirty="0">
                <a:solidFill>
                  <a:srgbClr val="000000"/>
                </a:solidFill>
                <a:effectLst/>
                <a:latin typeface="+mn-lt"/>
              </a:rPr>
              <a:t>Поднятие продаж в обеденное время:</a:t>
            </a:r>
            <a:r>
              <a:rPr lang="ru-RU" b="0" i="0" u="none" strike="noStrike" dirty="0">
                <a:solidFill>
                  <a:srgbClr val="000000"/>
                </a:solidFill>
                <a:effectLst/>
                <a:latin typeface="+mn-lt"/>
              </a:rPr>
              <a:t> Необходимо разработать маржинальное комбо-меню для ланчей, чтобы поднять средний чек с 7.32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+mn-lt"/>
              </a:rPr>
              <a:t>$</a:t>
            </a:r>
            <a:r>
              <a:rPr lang="ru-RU" b="0" i="0" u="none" strike="noStrike" dirty="0">
                <a:solidFill>
                  <a:srgbClr val="000000"/>
                </a:solidFill>
                <a:effectLst/>
                <a:latin typeface="+mn-lt"/>
              </a:rPr>
              <a:t> до вечерних 8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+mn-lt"/>
              </a:rPr>
              <a:t>$</a:t>
            </a:r>
            <a:r>
              <a:rPr lang="ru-RU" b="0" i="0" u="none" strike="noStrike" dirty="0">
                <a:solidFill>
                  <a:srgbClr val="000000"/>
                </a:solidFill>
                <a:effectLst/>
                <a:latin typeface="+mn-lt"/>
              </a:rPr>
              <a:t>.</a:t>
            </a:r>
          </a:p>
          <a:p>
            <a:pPr algn="l">
              <a:spcBef>
                <a:spcPts val="899"/>
              </a:spcBef>
              <a:spcAft>
                <a:spcPts val="899"/>
              </a:spcAft>
              <a:buFont typeface="+mj-lt"/>
              <a:buAutoNum type="arabicPeriod"/>
            </a:pPr>
            <a:r>
              <a:rPr lang="ru-RU" b="1" i="0" u="none" strike="noStrike" dirty="0">
                <a:solidFill>
                  <a:srgbClr val="000000"/>
                </a:solidFill>
                <a:effectLst/>
                <a:latin typeface="+mn-lt"/>
              </a:rPr>
              <a:t>Контроль сервиса на крупных чеках:</a:t>
            </a:r>
            <a:r>
              <a:rPr lang="ru-RU" b="0" i="0" u="none" strike="noStrike" dirty="0">
                <a:solidFill>
                  <a:srgbClr val="000000"/>
                </a:solidFill>
                <a:effectLst/>
                <a:latin typeface="+mn-lt"/>
              </a:rPr>
              <a:t>  анализ показал, на больших чеках чаевые проседают. Нужно усилить контроль менеджера за большими столами, чтобы не терять премиальных гостей.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</a:t>
            </a:fld>
            <a:endParaRPr lang="ru-RU"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7576434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64a65db51b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64a65db51b_0_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b="0" i="0" u="none" strike="noStrike" dirty="0">
                <a:solidFill>
                  <a:srgbClr val="000000"/>
                </a:solidFill>
                <a:effectLst/>
                <a:latin typeface="+mn-lt"/>
              </a:rPr>
              <a:t>На этом всё. Спасибо за внимание, готов ответить на ваши вопросы!»</a:t>
            </a:r>
            <a:endParaRPr dirty="0">
              <a:latin typeface="+mn-lt"/>
            </a:endParaRPr>
          </a:p>
        </p:txBody>
      </p:sp>
      <p:sp>
        <p:nvSpPr>
          <p:cNvPr id="101" name="Google Shape;101;g364a65db51b_0_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13</a:t>
            </a:fld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 type="title">
  <p:cSld name="TITLE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 type="obj">
  <p:cSld name="OBJEC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раздела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5" name="Google Shape;35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6" name="Google Shape;36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объекта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2" name="Google Shape;42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3" name="Google Shape;43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равнение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1" name="Google Shape;51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2" name="Google Shape;52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олько заголовок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ъект с подписью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исунок с подписью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вертикальный текст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ертикальный заголовок и текст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/>
          <p:nvPr/>
        </p:nvSpPr>
        <p:spPr>
          <a:xfrm>
            <a:off x="641675" y="1585979"/>
            <a:ext cx="76053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2100" b="0" i="0" u="none" strike="noStrike" cap="none" dirty="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7262506" y="4603101"/>
            <a:ext cx="4561200" cy="1685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800" b="0" i="0" u="none" strike="noStrike" cap="none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Выполнил: Пахунов Сергей Сергеевич</a:t>
            </a:r>
            <a:endParaRPr sz="1800" b="0" i="0" u="none" strike="noStrike" cap="none"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0" i="0" u="none" strike="noStrike" cap="none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Номер потока:</a:t>
            </a:r>
            <a:r>
              <a:rPr lang="ru-RU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САБДИС-80</a:t>
            </a:r>
            <a:r>
              <a:rPr lang="en-US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4</a:t>
            </a:r>
            <a:endParaRPr sz="1800"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lvl="0">
              <a:lnSpc>
                <a:spcPct val="115000"/>
              </a:lnSpc>
            </a:pPr>
            <a:r>
              <a:rPr lang="ru-RU" sz="1800" b="0" i="0" u="none" strike="noStrike" cap="none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Преподаватель: </a:t>
            </a:r>
            <a:r>
              <a:rPr lang="ru-RU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Минаев Владимир Алексеевич </a:t>
            </a:r>
            <a:endParaRPr sz="1800" b="0" i="0" u="none" strike="noStrike" cap="none"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92" name="Google Shape;92;p13"/>
          <p:cNvSpPr txBox="1"/>
          <p:nvPr/>
        </p:nvSpPr>
        <p:spPr>
          <a:xfrm>
            <a:off x="782352" y="1617804"/>
            <a:ext cx="10305000" cy="2308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Montserrat"/>
              <a:buNone/>
            </a:pPr>
            <a:r>
              <a:rPr lang="ru-RU" sz="24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ИТОГОВАЯ АТТЕСТАЦИОННАЯ РАБОТА </a:t>
            </a:r>
            <a:endParaRPr sz="24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Montserrat"/>
              <a:buNone/>
            </a:pPr>
            <a:endParaRPr sz="24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Montserrat"/>
              <a:buNone/>
            </a:pPr>
            <a:r>
              <a:rPr lang="ru-RU" sz="24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по дополнительной профессиональной программе</a:t>
            </a:r>
            <a:r>
              <a:rPr lang="ru-RU" sz="24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2400" b="0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Montserrat"/>
              <a:buNone/>
            </a:pPr>
            <a:r>
              <a:rPr lang="ru-RU" sz="24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профессиональной переподготовке</a:t>
            </a:r>
            <a:endParaRPr sz="2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24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Специалист по аналитике и базам данных в информационных системах</a:t>
            </a:r>
            <a:endParaRPr sz="24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7648"/>
    </mc:Choice>
    <mc:Fallback xmlns="">
      <p:transition spd="slow" advTm="17648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90;p13">
            <a:extLst>
              <a:ext uri="{FF2B5EF4-FFF2-40B4-BE49-F238E27FC236}">
                <a16:creationId xmlns:a16="http://schemas.microsoft.com/office/drawing/2014/main" id="{8D54DDAA-CCED-4728-A1CF-3CAEE34A55BC}"/>
              </a:ext>
            </a:extLst>
          </p:cNvPr>
          <p:cNvSpPr txBox="1"/>
          <p:nvPr/>
        </p:nvSpPr>
        <p:spPr>
          <a:xfrm>
            <a:off x="650630" y="1078502"/>
            <a:ext cx="10902461" cy="43968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</a:pPr>
            <a:r>
              <a:rPr lang="ru-RU" sz="2000" b="1" dirty="0">
                <a:solidFill>
                  <a:srgbClr val="1F1F1F"/>
                </a:solidFill>
                <a:latin typeface=""/>
                <a:cs typeface="Times New Roman" panose="02020603050405020304" pitchFamily="18" charset="0"/>
              </a:rPr>
              <a:t>Вариант 4. Алгоритмизация таргетирования: проектирование скоринговой модели</a:t>
            </a:r>
          </a:p>
          <a:p>
            <a:pPr algn="ctr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</a:pPr>
            <a:r>
              <a:rPr lang="ru-RU" sz="2000" b="1" dirty="0">
                <a:solidFill>
                  <a:srgbClr val="1F1F1F"/>
                </a:solidFill>
                <a:latin typeface=""/>
                <a:cs typeface="Times New Roman" panose="02020603050405020304" pitchFamily="18" charset="0"/>
              </a:rPr>
              <a:t>Проект «Аналитический отчет для менеджера ресторана</a:t>
            </a:r>
            <a:r>
              <a:rPr lang="en-US" sz="2000" b="1" dirty="0">
                <a:solidFill>
                  <a:srgbClr val="1F1F1F"/>
                </a:solidFill>
                <a:latin typeface=""/>
                <a:cs typeface="Times New Roman" panose="02020603050405020304" pitchFamily="18" charset="0"/>
              </a:rPr>
              <a:t>.</a:t>
            </a:r>
            <a:r>
              <a:rPr lang="ru-RU" sz="2000" b="1" dirty="0">
                <a:solidFill>
                  <a:srgbClr val="1F1F1F"/>
                </a:solidFill>
                <a:latin typeface=""/>
                <a:cs typeface="Times New Roman" panose="02020603050405020304" pitchFamily="18" charset="0"/>
              </a:rPr>
              <a:t> К</a:t>
            </a:r>
            <a:r>
              <a:rPr lang="ru-RU" sz="2000" b="1" dirty="0">
                <a:latin typeface=""/>
              </a:rPr>
              <a:t>огда ресторан получает больше счетов и чаевых?</a:t>
            </a:r>
            <a:r>
              <a:rPr lang="ru-RU" sz="2000" b="1" dirty="0">
                <a:solidFill>
                  <a:srgbClr val="1F1F1F"/>
                </a:solidFill>
                <a:latin typeface=""/>
                <a:cs typeface="Times New Roman" panose="02020603050405020304" pitchFamily="18" charset="0"/>
              </a:rPr>
              <a:t>»</a:t>
            </a:r>
          </a:p>
          <a:p>
            <a:pPr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</a:pPr>
            <a:endParaRPr lang="ru-RU" sz="1800" kern="1800" dirty="0">
              <a:solidFill>
                <a:srgbClr val="1F1F1F"/>
              </a:solidFill>
              <a:latin typeface="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</a:pPr>
            <a:r>
              <a:rPr lang="ru-RU" sz="2000" b="1" kern="1800" dirty="0">
                <a:solidFill>
                  <a:srgbClr val="1F1F1F"/>
                </a:solidFill>
                <a:latin typeface=""/>
                <a:ea typeface="Times New Roman" panose="02020603050405020304" pitchFamily="18" charset="0"/>
                <a:cs typeface="Times New Roman" panose="02020603050405020304" pitchFamily="18" charset="0"/>
              </a:rPr>
              <a:t>    Исходные данные: </a:t>
            </a:r>
            <a:r>
              <a:rPr lang="ru-RU" sz="2000" dirty="0">
                <a:solidFill>
                  <a:srgbClr val="1F1F1F"/>
                </a:solidFill>
                <a:effectLst/>
                <a:latin typeface=""/>
                <a:ea typeface="Times New Roman" panose="02020603050405020304" pitchFamily="18" charset="0"/>
                <a:cs typeface="Times New Roman" panose="02020603050405020304" pitchFamily="18" charset="0"/>
              </a:rPr>
              <a:t>датасет </a:t>
            </a:r>
            <a:r>
              <a:rPr lang="ru-RU" sz="2000" b="1" dirty="0">
                <a:solidFill>
                  <a:srgbClr val="1F1F1F"/>
                </a:solidFill>
                <a:effectLst/>
                <a:latin typeface=""/>
                <a:ea typeface="Times New Roman" panose="02020603050405020304" pitchFamily="18" charset="0"/>
                <a:cs typeface="Times New Roman" panose="02020603050405020304" pitchFamily="18" charset="0"/>
              </a:rPr>
              <a:t>tips</a:t>
            </a:r>
          </a:p>
          <a:p>
            <a:pPr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</a:pPr>
            <a:endParaRPr lang="ru-RU" sz="1800" dirty="0">
              <a:effectLst/>
              <a:latin typeface="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</a:pPr>
            <a:r>
              <a:rPr lang="ru-RU" sz="2000" b="1" dirty="0">
                <a:solidFill>
                  <a:srgbClr val="1F1F1F"/>
                </a:solidFill>
                <a:effectLst/>
                <a:latin typeface=""/>
                <a:ea typeface="Times New Roman" panose="02020603050405020304" pitchFamily="18" charset="0"/>
                <a:cs typeface="Times New Roman" panose="02020603050405020304" pitchFamily="18" charset="0"/>
              </a:rPr>
              <a:t>    Цель проекта:</a:t>
            </a:r>
            <a:endParaRPr lang="ru-RU" sz="2000" b="1" dirty="0">
              <a:effectLst/>
              <a:latin typeface="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</a:pPr>
            <a:r>
              <a:rPr lang="ru-RU" sz="2000" dirty="0">
                <a:solidFill>
                  <a:srgbClr val="1F1F1F"/>
                </a:solidFill>
                <a:effectLst/>
                <a:latin typeface=""/>
                <a:ea typeface="Times New Roman" panose="02020603050405020304" pitchFamily="18" charset="0"/>
                <a:cs typeface="Times New Roman" panose="02020603050405020304" pitchFamily="18" charset="0"/>
              </a:rPr>
              <a:t>Подготовить аналитический отчет для менеджера ресторана: определить, когда клиенты тратят больше, какие группы оставляют больше чаевых и какие факторы связаны с размером заказа.</a:t>
            </a:r>
            <a:endParaRPr lang="ru-RU" sz="2000" dirty="0">
              <a:effectLst/>
              <a:latin typeface="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2531"/>
    </mc:Choice>
    <mc:Fallback xmlns="">
      <p:transition spd="slow" advTm="2253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90;p13">
            <a:extLst>
              <a:ext uri="{FF2B5EF4-FFF2-40B4-BE49-F238E27FC236}">
                <a16:creationId xmlns:a16="http://schemas.microsoft.com/office/drawing/2014/main" id="{8D54DDAA-CCED-4728-A1CF-3CAEE34A55BC}"/>
              </a:ext>
            </a:extLst>
          </p:cNvPr>
          <p:cNvSpPr txBox="1"/>
          <p:nvPr/>
        </p:nvSpPr>
        <p:spPr>
          <a:xfrm>
            <a:off x="1001858" y="813727"/>
            <a:ext cx="3605310" cy="48135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</a:pPr>
            <a:r>
              <a:rPr lang="ru-RU" sz="2000" b="1" dirty="0">
                <a:solidFill>
                  <a:srgbClr val="1F1F1F"/>
                </a:solidFill>
                <a:effectLst/>
                <a:latin typeface=""/>
                <a:ea typeface="Times New Roman" panose="02020603050405020304" pitchFamily="18" charset="0"/>
                <a:cs typeface="Times New Roman" panose="02020603050405020304" pitchFamily="18" charset="0"/>
              </a:rPr>
              <a:t>Решение задания 1. Подготовка данных</a:t>
            </a:r>
            <a:endParaRPr lang="ru-RU" sz="2000" b="1" dirty="0">
              <a:effectLst/>
              <a:latin typeface="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2000" dirty="0">
                <a:solidFill>
                  <a:srgbClr val="1F1F1F"/>
                </a:solidFill>
                <a:effectLst/>
                <a:latin typeface=""/>
                <a:ea typeface="Times New Roman" panose="02020603050405020304" pitchFamily="18" charset="0"/>
                <a:cs typeface="Times New Roman" panose="02020603050405020304" pitchFamily="18" charset="0"/>
              </a:rPr>
              <a:t>Импортированы</a:t>
            </a:r>
            <a:r>
              <a:rPr lang="ru-RU" sz="2000" dirty="0">
                <a:solidFill>
                  <a:srgbClr val="1F1F1F"/>
                </a:solidFill>
                <a:latin typeface=""/>
                <a:ea typeface="Times New Roman" panose="02020603050405020304" pitchFamily="18" charset="0"/>
                <a:cs typeface="Times New Roman" panose="02020603050405020304" pitchFamily="18" charset="0"/>
              </a:rPr>
              <a:t> основные библиотеки.</a:t>
            </a:r>
            <a:endParaRPr lang="ru-RU" sz="2000" dirty="0">
              <a:solidFill>
                <a:srgbClr val="1F1F1F"/>
              </a:solidFill>
              <a:effectLst/>
              <a:latin typeface="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2000" dirty="0">
                <a:solidFill>
                  <a:srgbClr val="1F1F1F"/>
                </a:solidFill>
                <a:effectLst/>
                <a:latin typeface=""/>
                <a:ea typeface="Times New Roman" panose="02020603050405020304" pitchFamily="18" charset="0"/>
                <a:cs typeface="Times New Roman" panose="02020603050405020304" pitchFamily="18" charset="0"/>
              </a:rPr>
              <a:t>Загружен датасет tips.</a:t>
            </a:r>
            <a:endParaRPr lang="ru-RU" sz="2000" dirty="0">
              <a:solidFill>
                <a:srgbClr val="1F1F1F"/>
              </a:solidFill>
              <a:effectLst/>
              <a:latin typeface="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2000" dirty="0">
                <a:solidFill>
                  <a:srgbClr val="1F1F1F"/>
                </a:solidFill>
                <a:effectLst/>
                <a:latin typeface=""/>
                <a:ea typeface="Times New Roman" panose="02020603050405020304" pitchFamily="18" charset="0"/>
                <a:cs typeface="Times New Roman" panose="02020603050405020304" pitchFamily="18" charset="0"/>
              </a:rPr>
              <a:t>Выведены первые строки.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2000" dirty="0">
                <a:solidFill>
                  <a:srgbClr val="1F1F1F"/>
                </a:solidFill>
                <a:latin typeface=""/>
                <a:cs typeface="Times New Roman" panose="02020603050405020304" pitchFamily="18" charset="0"/>
              </a:rPr>
              <a:t>Выведено </a:t>
            </a:r>
            <a:r>
              <a:rPr lang="en-US" sz="2000" dirty="0">
                <a:solidFill>
                  <a:srgbClr val="1F1F1F"/>
                </a:solidFill>
                <a:latin typeface=""/>
                <a:cs typeface="Times New Roman" panose="02020603050405020304" pitchFamily="18" charset="0"/>
              </a:rPr>
              <a:t>info().</a:t>
            </a:r>
            <a:endParaRPr lang="ru-RU" sz="2000" dirty="0">
              <a:solidFill>
                <a:srgbClr val="1F1F1F"/>
              </a:solidFill>
              <a:latin typeface="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2000" dirty="0">
                <a:solidFill>
                  <a:srgbClr val="1F1F1F"/>
                </a:solidFill>
                <a:latin typeface=""/>
                <a:cs typeface="Times New Roman" panose="02020603050405020304" pitchFamily="18" charset="0"/>
              </a:rPr>
              <a:t>Выведен размер датасета.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2000" dirty="0">
                <a:solidFill>
                  <a:srgbClr val="1F1F1F"/>
                </a:solidFill>
                <a:latin typeface=""/>
                <a:cs typeface="Times New Roman" panose="02020603050405020304" pitchFamily="18" charset="0"/>
              </a:rPr>
              <a:t>Кратко описаны переменные.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82C4E24-A42B-920D-C51B-74C5819DB2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6839" y="24294"/>
            <a:ext cx="6864326" cy="6809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29332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231"/>
    </mc:Choice>
    <mc:Fallback xmlns="">
      <p:transition spd="slow" advTm="1023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90;p13">
            <a:extLst>
              <a:ext uri="{FF2B5EF4-FFF2-40B4-BE49-F238E27FC236}">
                <a16:creationId xmlns:a16="http://schemas.microsoft.com/office/drawing/2014/main" id="{8D54DDAA-CCED-4728-A1CF-3CAEE34A55BC}"/>
              </a:ext>
            </a:extLst>
          </p:cNvPr>
          <p:cNvSpPr txBox="1"/>
          <p:nvPr/>
        </p:nvSpPr>
        <p:spPr>
          <a:xfrm>
            <a:off x="403418" y="362574"/>
            <a:ext cx="4871968" cy="6112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</a:pPr>
            <a:r>
              <a:rPr lang="ru-RU" b="1" dirty="0">
                <a:solidFill>
                  <a:srgbClr val="1F1F1F"/>
                </a:solidFill>
                <a:effectLst/>
                <a:latin typeface="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ru-RU" b="1" dirty="0">
                <a:solidFill>
                  <a:srgbClr val="1F1F1F"/>
                </a:solidFill>
                <a:latin typeface=""/>
                <a:ea typeface="Times New Roman" panose="02020603050405020304" pitchFamily="18" charset="0"/>
                <a:cs typeface="Times New Roman" panose="02020603050405020304" pitchFamily="18" charset="0"/>
              </a:rPr>
              <a:t>Решение задания 2. Проверка надежности данных</a:t>
            </a:r>
            <a:endParaRPr lang="ru-RU" b="1" dirty="0">
              <a:latin typeface="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dirty="0">
                <a:solidFill>
                  <a:srgbClr val="1F1F1F"/>
                </a:solidFill>
                <a:effectLst/>
                <a:latin typeface=""/>
                <a:ea typeface="Times New Roman" panose="02020603050405020304" pitchFamily="18" charset="0"/>
                <a:cs typeface="Times New Roman" panose="02020603050405020304" pitchFamily="18" charset="0"/>
              </a:rPr>
              <a:t>Проверка на наличие пропущенных значений.</a:t>
            </a:r>
            <a:endParaRPr lang="ru-RU" dirty="0">
              <a:solidFill>
                <a:srgbClr val="1F1F1F"/>
              </a:solidFill>
              <a:latin typeface="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dirty="0">
                <a:solidFill>
                  <a:srgbClr val="1F1F1F"/>
                </a:solidFill>
                <a:latin typeface=""/>
                <a:ea typeface="Times New Roman" panose="02020603050405020304" pitchFamily="18" charset="0"/>
                <a:cs typeface="Times New Roman" panose="02020603050405020304" pitchFamily="18" charset="0"/>
              </a:rPr>
              <a:t>Проверено наличие и</a:t>
            </a:r>
            <a:r>
              <a:rPr lang="ru-RU" dirty="0">
                <a:solidFill>
                  <a:srgbClr val="1F1F1F"/>
                </a:solidFill>
                <a:latin typeface=""/>
                <a:cs typeface="Times New Roman" panose="02020603050405020304" pitchFamily="18" charset="0"/>
              </a:rPr>
              <a:t> количество </a:t>
            </a:r>
            <a:r>
              <a:rPr lang="ru-RU" dirty="0">
                <a:solidFill>
                  <a:srgbClr val="1F1F1F"/>
                </a:solidFill>
                <a:effectLst/>
                <a:latin typeface=""/>
                <a:ea typeface="Times New Roman" panose="02020603050405020304" pitchFamily="18" charset="0"/>
                <a:cs typeface="Times New Roman" panose="02020603050405020304" pitchFamily="18" charset="0"/>
              </a:rPr>
              <a:t>дубликатов.</a:t>
            </a:r>
            <a:endParaRPr lang="ru-RU" dirty="0">
              <a:solidFill>
                <a:srgbClr val="1F1F1F"/>
              </a:solidFill>
              <a:effectLst/>
              <a:latin typeface="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dirty="0">
                <a:solidFill>
                  <a:srgbClr val="1F1F1F"/>
                </a:solidFill>
                <a:effectLst/>
                <a:latin typeface=""/>
                <a:ea typeface="Times New Roman" panose="02020603050405020304" pitchFamily="18" charset="0"/>
                <a:cs typeface="Times New Roman" panose="02020603050405020304" pitchFamily="18" charset="0"/>
              </a:rPr>
              <a:t>Проверены уникальные значения в категориальных полях.</a:t>
            </a:r>
            <a:endParaRPr lang="ru-RU" dirty="0">
              <a:solidFill>
                <a:srgbClr val="1F1F1F"/>
              </a:solidFill>
              <a:effectLst/>
              <a:latin typeface="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dirty="0">
                <a:solidFill>
                  <a:srgbClr val="1F1F1F"/>
                </a:solidFill>
                <a:latin typeface=""/>
                <a:ea typeface="Times New Roman" panose="02020603050405020304" pitchFamily="18" charset="0"/>
                <a:cs typeface="Times New Roman" panose="02020603050405020304" pitchFamily="18" charset="0"/>
              </a:rPr>
              <a:t>Посчитано количество заказов по дням</a:t>
            </a:r>
            <a:r>
              <a:rPr lang="ru-RU" dirty="0">
                <a:solidFill>
                  <a:srgbClr val="1F1F1F"/>
                </a:solidFill>
                <a:effectLst/>
                <a:latin typeface="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dirty="0">
              <a:solidFill>
                <a:srgbClr val="1F1F1F"/>
              </a:solidFill>
              <a:effectLst/>
              <a:latin typeface="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dirty="0">
                <a:solidFill>
                  <a:srgbClr val="1F1F1F"/>
                </a:solidFill>
                <a:latin typeface=""/>
                <a:ea typeface="Times New Roman" panose="02020603050405020304" pitchFamily="18" charset="0"/>
                <a:cs typeface="Times New Roman" panose="02020603050405020304" pitchFamily="18" charset="0"/>
              </a:rPr>
              <a:t>Сделан вывод о качестве данных</a:t>
            </a:r>
            <a:r>
              <a:rPr lang="en-US" dirty="0">
                <a:solidFill>
                  <a:srgbClr val="1F1F1F"/>
                </a:solidFill>
                <a:latin typeface="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b="0" dirty="0">
              <a:solidFill>
                <a:srgbClr val="116329"/>
              </a:solidFill>
              <a:effectLst/>
              <a:latin typeface=""/>
            </a:endParaRP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Wingdings" pitchFamily="2" charset="2"/>
              <a:buChar char="Ø"/>
              <a:tabLst>
                <a:tab pos="457200" algn="l"/>
              </a:tabLst>
            </a:pPr>
            <a:r>
              <a:rPr lang="ru-RU" b="0" dirty="0">
                <a:solidFill>
                  <a:srgbClr val="116329"/>
                </a:solidFill>
                <a:effectLst/>
                <a:latin typeface=""/>
              </a:rPr>
              <a:t>Пропущенные значения в структуре данных отсутствуют. </a:t>
            </a: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Wingdings" pitchFamily="2" charset="2"/>
              <a:buChar char="Ø"/>
              <a:tabLst>
                <a:tab pos="457200" algn="l"/>
              </a:tabLst>
            </a:pPr>
            <a:r>
              <a:rPr lang="ru-RU" b="0" dirty="0">
                <a:solidFill>
                  <a:srgbClr val="116329"/>
                </a:solidFill>
                <a:effectLst/>
                <a:latin typeface=""/>
              </a:rPr>
              <a:t>Обнаружен и успешно удален 1 полный дубликат строки. </a:t>
            </a: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Wingdings" pitchFamily="2" charset="2"/>
              <a:buChar char="Ø"/>
              <a:tabLst>
                <a:tab pos="457200" algn="l"/>
              </a:tabLst>
            </a:pPr>
            <a:r>
              <a:rPr lang="ru-RU" b="0" dirty="0">
                <a:solidFill>
                  <a:srgbClr val="116329"/>
                </a:solidFill>
                <a:effectLst/>
                <a:latin typeface=""/>
              </a:rPr>
              <a:t>Категориальные поля (</a:t>
            </a:r>
            <a:r>
              <a:rPr lang="ru-RU" b="0" dirty="0">
                <a:solidFill>
                  <a:srgbClr val="0550AE"/>
                </a:solidFill>
                <a:effectLst/>
                <a:latin typeface=""/>
              </a:rPr>
              <a:t>`</a:t>
            </a:r>
            <a:r>
              <a:rPr lang="en" b="0" dirty="0">
                <a:solidFill>
                  <a:srgbClr val="0550AE"/>
                </a:solidFill>
                <a:effectLst/>
                <a:latin typeface=""/>
              </a:rPr>
              <a:t>sex`</a:t>
            </a:r>
            <a:r>
              <a:rPr lang="en" b="0" dirty="0">
                <a:solidFill>
                  <a:srgbClr val="116329"/>
                </a:solidFill>
                <a:effectLst/>
                <a:latin typeface=""/>
              </a:rPr>
              <a:t>, </a:t>
            </a:r>
            <a:r>
              <a:rPr lang="en" b="0" dirty="0">
                <a:solidFill>
                  <a:srgbClr val="0550AE"/>
                </a:solidFill>
                <a:effectLst/>
                <a:latin typeface=""/>
              </a:rPr>
              <a:t>`smoker`</a:t>
            </a:r>
            <a:r>
              <a:rPr lang="en" b="0" dirty="0">
                <a:solidFill>
                  <a:srgbClr val="116329"/>
                </a:solidFill>
                <a:effectLst/>
                <a:latin typeface=""/>
              </a:rPr>
              <a:t>, </a:t>
            </a:r>
            <a:r>
              <a:rPr lang="en" b="0" dirty="0">
                <a:solidFill>
                  <a:srgbClr val="0550AE"/>
                </a:solidFill>
                <a:effectLst/>
                <a:latin typeface=""/>
              </a:rPr>
              <a:t>`day`</a:t>
            </a:r>
            <a:r>
              <a:rPr lang="en" b="0" dirty="0">
                <a:solidFill>
                  <a:srgbClr val="116329"/>
                </a:solidFill>
                <a:effectLst/>
                <a:latin typeface=""/>
              </a:rPr>
              <a:t>, </a:t>
            </a:r>
            <a:r>
              <a:rPr lang="en" b="0" dirty="0">
                <a:solidFill>
                  <a:srgbClr val="0550AE"/>
                </a:solidFill>
                <a:effectLst/>
                <a:latin typeface=""/>
              </a:rPr>
              <a:t>`time`</a:t>
            </a:r>
            <a:r>
              <a:rPr lang="en" b="0" dirty="0">
                <a:solidFill>
                  <a:srgbClr val="116329"/>
                </a:solidFill>
                <a:effectLst/>
                <a:latin typeface=""/>
              </a:rPr>
              <a:t>) </a:t>
            </a:r>
            <a:r>
              <a:rPr lang="ru-RU" b="0" dirty="0">
                <a:solidFill>
                  <a:srgbClr val="116329"/>
                </a:solidFill>
                <a:effectLst/>
                <a:latin typeface=""/>
              </a:rPr>
              <a:t>стандартизированы и пригодны для когортного анализа. </a:t>
            </a: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Wingdings" pitchFamily="2" charset="2"/>
              <a:buChar char="Ø"/>
              <a:tabLst>
                <a:tab pos="457200" algn="l"/>
              </a:tabLst>
            </a:pPr>
            <a:r>
              <a:rPr lang="ru-RU" b="0" dirty="0">
                <a:solidFill>
                  <a:srgbClr val="116329"/>
                </a:solidFill>
                <a:effectLst/>
                <a:latin typeface=""/>
              </a:rPr>
              <a:t>Наибольшая плотность наблюдений зафиксирована в выходные дни (суббота и воскресенье), в то время как пятница является наименее загруженным днем недели. </a:t>
            </a: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Wingdings" pitchFamily="2" charset="2"/>
              <a:buChar char="Ø"/>
              <a:tabLst>
                <a:tab pos="457200" algn="l"/>
              </a:tabLst>
            </a:pPr>
            <a:r>
              <a:rPr lang="ru-RU" b="0" dirty="0">
                <a:solidFill>
                  <a:srgbClr val="116329"/>
                </a:solidFill>
                <a:effectLst/>
                <a:latin typeface=""/>
              </a:rPr>
              <a:t>Данные признаны полностью надежными для дальнейшего исследования.</a:t>
            </a:r>
            <a:endParaRPr lang="ru-RU" dirty="0">
              <a:solidFill>
                <a:srgbClr val="1F1F1F"/>
              </a:solidFill>
              <a:effectLst/>
              <a:highlight>
                <a:srgbClr val="FFFF00"/>
              </a:highlight>
              <a:latin typeface="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A869B73-2008-D04F-006A-F908EEE939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5386" y="195061"/>
            <a:ext cx="6846717" cy="6447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7286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8334"/>
    </mc:Choice>
    <mc:Fallback xmlns="">
      <p:transition spd="slow" advTm="18334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90;p13">
            <a:extLst>
              <a:ext uri="{FF2B5EF4-FFF2-40B4-BE49-F238E27FC236}">
                <a16:creationId xmlns:a16="http://schemas.microsoft.com/office/drawing/2014/main" id="{8D54DDAA-CCED-4728-A1CF-3CAEE34A55BC}"/>
              </a:ext>
            </a:extLst>
          </p:cNvPr>
          <p:cNvSpPr txBox="1"/>
          <p:nvPr/>
        </p:nvSpPr>
        <p:spPr>
          <a:xfrm>
            <a:off x="660980" y="276705"/>
            <a:ext cx="5345725" cy="2537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</a:pPr>
            <a:r>
              <a:rPr lang="ru-RU" sz="1750" b="1" dirty="0">
                <a:solidFill>
                  <a:srgbClr val="1F1F1F"/>
                </a:solidFill>
                <a:effectLst/>
                <a:latin typeface=""/>
                <a:ea typeface="Times New Roman" panose="02020603050405020304" pitchFamily="18" charset="0"/>
                <a:cs typeface="Times New Roman" panose="02020603050405020304" pitchFamily="18" charset="0"/>
              </a:rPr>
              <a:t>Решение задания </a:t>
            </a:r>
            <a:r>
              <a:rPr lang="ru-RU" sz="1800" b="1" dirty="0">
                <a:solidFill>
                  <a:srgbClr val="1F1F1F"/>
                </a:solidFill>
                <a:effectLst/>
                <a:latin typeface=""/>
                <a:ea typeface="Times New Roman" panose="02020603050405020304" pitchFamily="18" charset="0"/>
                <a:cs typeface="Times New Roman" panose="02020603050405020304" pitchFamily="18" charset="0"/>
              </a:rPr>
              <a:t>3. Общая картина заказов</a:t>
            </a:r>
            <a:endParaRPr lang="ru-RU" sz="1800" b="1" dirty="0">
              <a:effectLst/>
              <a:latin typeface="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1800" dirty="0">
                <a:solidFill>
                  <a:srgbClr val="1F1F1F"/>
                </a:solidFill>
                <a:latin typeface=""/>
                <a:cs typeface="Times New Roman" panose="02020603050405020304" pitchFamily="18" charset="0"/>
              </a:rPr>
              <a:t>Найден средний и медианный счет.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1800" dirty="0">
                <a:solidFill>
                  <a:srgbClr val="1F1F1F"/>
                </a:solidFill>
                <a:latin typeface=""/>
                <a:cs typeface="Times New Roman" panose="02020603050405020304" pitchFamily="18" charset="0"/>
              </a:rPr>
              <a:t>Найдены средний и медианный чаевые.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1800" dirty="0">
                <a:solidFill>
                  <a:srgbClr val="1F1F1F"/>
                </a:solidFill>
                <a:latin typeface=""/>
                <a:cs typeface="Times New Roman" panose="02020603050405020304" pitchFamily="18" charset="0"/>
              </a:rPr>
              <a:t>Найден средний размер компании.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1800" dirty="0">
                <a:solidFill>
                  <a:srgbClr val="1F1F1F"/>
                </a:solidFill>
                <a:latin typeface=""/>
                <a:cs typeface="Times New Roman" panose="02020603050405020304" pitchFamily="18" charset="0"/>
              </a:rPr>
              <a:t>Построены гистограммы total_bill и tip. 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1800" dirty="0">
                <a:solidFill>
                  <a:srgbClr val="1F1F1F"/>
                </a:solidFill>
                <a:latin typeface=""/>
                <a:cs typeface="Times New Roman" panose="02020603050405020304" pitchFamily="18" charset="0"/>
              </a:rPr>
              <a:t>Постро</a:t>
            </a:r>
            <a:r>
              <a:rPr lang="ru-RU" sz="1800" dirty="0">
                <a:solidFill>
                  <a:srgbClr val="1F1F1F"/>
                </a:solidFill>
                <a:latin typeface=""/>
                <a:cs typeface="Times New Roman" panose="02020603050405020304" pitchFamily="18" charset="0"/>
              </a:rPr>
              <a:t>ен</a:t>
            </a:r>
            <a:r>
              <a:rPr lang="en-US" sz="1800" dirty="0">
                <a:solidFill>
                  <a:srgbClr val="1F1F1F"/>
                </a:solidFill>
                <a:latin typeface=""/>
                <a:cs typeface="Times New Roman" panose="02020603050405020304" pitchFamily="18" charset="0"/>
              </a:rPr>
              <a:t> boxplot total_bill.</a:t>
            </a:r>
            <a:endParaRPr lang="ru-RU" sz="1800" dirty="0">
              <a:solidFill>
                <a:srgbClr val="1F1F1F"/>
              </a:solidFill>
              <a:effectLst/>
              <a:latin typeface="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EFFA672-C1BB-8F61-FFF0-9848423621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11503"/>
            <a:ext cx="6062393" cy="239102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0C2FFA7-0F5F-59F4-BF24-34DE012D0F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980" y="2814026"/>
            <a:ext cx="10870037" cy="3832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73989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9277"/>
    </mc:Choice>
    <mc:Fallback xmlns="">
      <p:transition spd="slow" advTm="29277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90;p13">
            <a:extLst>
              <a:ext uri="{FF2B5EF4-FFF2-40B4-BE49-F238E27FC236}">
                <a16:creationId xmlns:a16="http://schemas.microsoft.com/office/drawing/2014/main" id="{8D54DDAA-CCED-4728-A1CF-3CAEE34A55BC}"/>
              </a:ext>
            </a:extLst>
          </p:cNvPr>
          <p:cNvSpPr txBox="1"/>
          <p:nvPr/>
        </p:nvSpPr>
        <p:spPr>
          <a:xfrm>
            <a:off x="403415" y="69162"/>
            <a:ext cx="4449937" cy="3722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</a:pPr>
            <a:r>
              <a:rPr lang="ru-RU" sz="1750" b="1" dirty="0">
                <a:solidFill>
                  <a:srgbClr val="1F1F1F"/>
                </a:solidFill>
                <a:effectLst/>
                <a:latin typeface=""/>
                <a:ea typeface="Times New Roman" panose="02020603050405020304" pitchFamily="18" charset="0"/>
                <a:cs typeface="Times New Roman" panose="02020603050405020304" pitchFamily="18" charset="0"/>
              </a:rPr>
              <a:t>Решение задания </a:t>
            </a:r>
            <a:r>
              <a:rPr lang="ru-RU" sz="1800" b="1" dirty="0">
                <a:solidFill>
                  <a:srgbClr val="1F1F1F"/>
                </a:solidFill>
                <a:effectLst/>
                <a:latin typeface=""/>
                <a:ea typeface="Times New Roman" panose="02020603050405020304" pitchFamily="18" charset="0"/>
                <a:cs typeface="Times New Roman" panose="02020603050405020304" pitchFamily="18" charset="0"/>
              </a:rPr>
              <a:t>4. Процент чаевых и необычные случаи</a:t>
            </a:r>
            <a:endParaRPr lang="ru-RU" sz="1800" b="1" dirty="0">
              <a:effectLst/>
              <a:latin typeface="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1800" dirty="0">
                <a:solidFill>
                  <a:srgbClr val="1F1F1F"/>
                </a:solidFill>
                <a:latin typeface=""/>
                <a:cs typeface="Times New Roman" panose="02020603050405020304" pitchFamily="18" charset="0"/>
              </a:rPr>
              <a:t>Создан </a:t>
            </a:r>
            <a:r>
              <a:rPr lang="en-US" sz="1800" dirty="0">
                <a:solidFill>
                  <a:srgbClr val="1F1F1F"/>
                </a:solidFill>
                <a:latin typeface=""/>
                <a:cs typeface="Times New Roman" panose="02020603050405020304" pitchFamily="18" charset="0"/>
              </a:rPr>
              <a:t>tip</a:t>
            </a:r>
            <a:r>
              <a:rPr lang="ru-RU" sz="1800" dirty="0">
                <a:solidFill>
                  <a:srgbClr val="1F1F1F"/>
                </a:solidFill>
                <a:latin typeface=""/>
                <a:cs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1F1F1F"/>
                </a:solidFill>
                <a:latin typeface=""/>
                <a:cs typeface="Times New Roman" panose="02020603050405020304" pitchFamily="18" charset="0"/>
              </a:rPr>
              <a:t>percent</a:t>
            </a:r>
            <a:r>
              <a:rPr lang="ru-RU" sz="1800" dirty="0">
                <a:solidFill>
                  <a:srgbClr val="1F1F1F"/>
                </a:solidFill>
                <a:latin typeface=""/>
                <a:cs typeface="Times New Roman" panose="02020603050405020304" pitchFamily="18" charset="0"/>
              </a:rPr>
              <a:t>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1800" dirty="0">
                <a:solidFill>
                  <a:srgbClr val="1F1F1F"/>
                </a:solidFill>
                <a:latin typeface=""/>
                <a:cs typeface="Times New Roman" panose="02020603050405020304" pitchFamily="18" charset="0"/>
              </a:rPr>
              <a:t>Рассчитан средний и медианный процент чаевых.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1800" dirty="0">
                <a:solidFill>
                  <a:srgbClr val="1F1F1F"/>
                </a:solidFill>
                <a:latin typeface=""/>
                <a:cs typeface="Times New Roman" panose="02020603050405020304" pitchFamily="18" charset="0"/>
              </a:rPr>
              <a:t>Найдены 5 заказов с самым высоким</a:t>
            </a:r>
            <a:r>
              <a:rPr lang="en-US" sz="1800" dirty="0">
                <a:solidFill>
                  <a:srgbClr val="1F1F1F"/>
                </a:solidFill>
                <a:latin typeface=""/>
                <a:cs typeface="Times New Roman" panose="02020603050405020304" pitchFamily="18" charset="0"/>
              </a:rPr>
              <a:t> tip_percent</a:t>
            </a:r>
            <a:r>
              <a:rPr lang="ru-RU" sz="1800" dirty="0">
                <a:solidFill>
                  <a:srgbClr val="1F1F1F"/>
                </a:solidFill>
                <a:latin typeface=""/>
                <a:cs typeface="Times New Roman" panose="02020603050405020304" pitchFamily="18" charset="0"/>
              </a:rPr>
              <a:t>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1800" dirty="0">
                <a:solidFill>
                  <a:srgbClr val="1F1F1F"/>
                </a:solidFill>
                <a:latin typeface=""/>
                <a:cs typeface="Times New Roman" panose="02020603050405020304" pitchFamily="18" charset="0"/>
              </a:rPr>
              <a:t>Найдены 5 заказов с самым низким tip_percent.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1800" dirty="0">
                <a:solidFill>
                  <a:srgbClr val="1F1F1F"/>
                </a:solidFill>
                <a:latin typeface=""/>
                <a:cs typeface="Times New Roman" panose="02020603050405020304" pitchFamily="18" charset="0"/>
              </a:rPr>
              <a:t>Построен </a:t>
            </a:r>
            <a:r>
              <a:rPr lang="en-US" sz="1800" dirty="0">
                <a:solidFill>
                  <a:srgbClr val="1F1F1F"/>
                </a:solidFill>
                <a:latin typeface=""/>
                <a:cs typeface="Times New Roman" panose="02020603050405020304" pitchFamily="18" charset="0"/>
              </a:rPr>
              <a:t>boxplot tip</a:t>
            </a:r>
            <a:r>
              <a:rPr lang="ru-RU" sz="1800" dirty="0">
                <a:solidFill>
                  <a:srgbClr val="1F1F1F"/>
                </a:solidFill>
                <a:latin typeface=""/>
                <a:cs typeface="Times New Roman" panose="02020603050405020304" pitchFamily="18" charset="0"/>
              </a:rPr>
              <a:t>_</a:t>
            </a:r>
            <a:r>
              <a:rPr lang="en-US" sz="1800" dirty="0">
                <a:solidFill>
                  <a:srgbClr val="1F1F1F"/>
                </a:solidFill>
                <a:latin typeface=""/>
                <a:cs typeface="Times New Roman" panose="02020603050405020304" pitchFamily="18" charset="0"/>
              </a:rPr>
              <a:t>percent.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8A3D8B4-3E9F-22E5-51CA-7C1BB0FF55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7166" y="264992"/>
            <a:ext cx="6884834" cy="6328016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7FC27FB-2108-C810-7089-03D212565D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646" y="3586085"/>
            <a:ext cx="5001477" cy="3271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69201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8347"/>
    </mc:Choice>
    <mc:Fallback xmlns="">
      <p:transition spd="slow" advTm="28347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90;p13">
            <a:extLst>
              <a:ext uri="{FF2B5EF4-FFF2-40B4-BE49-F238E27FC236}">
                <a16:creationId xmlns:a16="http://schemas.microsoft.com/office/drawing/2014/main" id="{8D54DDAA-CCED-4728-A1CF-3CAEE34A55BC}"/>
              </a:ext>
            </a:extLst>
          </p:cNvPr>
          <p:cNvSpPr txBox="1"/>
          <p:nvPr/>
        </p:nvSpPr>
        <p:spPr>
          <a:xfrm>
            <a:off x="294150" y="336527"/>
            <a:ext cx="5585950" cy="5680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</a:pPr>
            <a:r>
              <a:rPr lang="ru-RU" sz="1750" b="1" dirty="0">
                <a:solidFill>
                  <a:srgbClr val="1F1F1F"/>
                </a:solidFill>
                <a:effectLst/>
                <a:latin typeface=""/>
                <a:ea typeface="Times New Roman" panose="02020603050405020304" pitchFamily="18" charset="0"/>
                <a:cs typeface="Times New Roman" panose="02020603050405020304" pitchFamily="18" charset="0"/>
              </a:rPr>
              <a:t>Решение задания </a:t>
            </a:r>
            <a:r>
              <a:rPr lang="ru-RU" sz="1800" b="1" dirty="0">
                <a:solidFill>
                  <a:srgbClr val="1F1F1F"/>
                </a:solidFill>
                <a:effectLst/>
                <a:latin typeface=""/>
                <a:ea typeface="Times New Roman" panose="02020603050405020304" pitchFamily="18" charset="0"/>
                <a:cs typeface="Times New Roman" panose="02020603050405020304" pitchFamily="18" charset="0"/>
              </a:rPr>
              <a:t>5. Лучшие дни и время посещения</a:t>
            </a:r>
            <a:endParaRPr lang="ru-RU" sz="1800" b="1" dirty="0">
              <a:effectLst/>
              <a:latin typeface="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indent="-22860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AutoNum type="arabicPeriod"/>
            </a:pPr>
            <a:r>
              <a:rPr lang="ru-RU" dirty="0">
                <a:solidFill>
                  <a:srgbClr val="1F1F1F"/>
                </a:solidFill>
                <a:latin typeface=""/>
                <a:cs typeface="Times New Roman" panose="02020603050405020304" pitchFamily="18" charset="0"/>
              </a:rPr>
              <a:t>Рассчитаны по дням: средний total_bill; средний tip; средний tip_percent; количество заказов.</a:t>
            </a:r>
          </a:p>
          <a:p>
            <a:pPr marL="228600" indent="-22860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AutoNum type="arabicPeriod"/>
            </a:pPr>
            <a:r>
              <a:rPr lang="ru-RU" dirty="0">
                <a:solidFill>
                  <a:srgbClr val="1F1F1F"/>
                </a:solidFill>
                <a:latin typeface=""/>
                <a:cs typeface="Times New Roman" panose="02020603050405020304" pitchFamily="18" charset="0"/>
              </a:rPr>
              <a:t>Рассчитаны по </a:t>
            </a:r>
            <a:r>
              <a:rPr lang="en-US" dirty="0">
                <a:solidFill>
                  <a:srgbClr val="1F1F1F"/>
                </a:solidFill>
                <a:latin typeface=""/>
                <a:cs typeface="Times New Roman" panose="02020603050405020304" pitchFamily="18" charset="0"/>
              </a:rPr>
              <a:t>time</a:t>
            </a:r>
            <a:r>
              <a:rPr lang="ru-RU" dirty="0">
                <a:solidFill>
                  <a:srgbClr val="1F1F1F"/>
                </a:solidFill>
                <a:latin typeface=""/>
                <a:cs typeface="Times New Roman" panose="02020603050405020304" pitchFamily="18" charset="0"/>
              </a:rPr>
              <a:t>: средний total_bill; средний tip; средний tip_percent; количество заказов</a:t>
            </a:r>
            <a:r>
              <a:rPr lang="en-US" dirty="0">
                <a:solidFill>
                  <a:srgbClr val="1F1F1F"/>
                </a:solidFill>
                <a:latin typeface=""/>
                <a:cs typeface="Times New Roman" panose="02020603050405020304" pitchFamily="18" charset="0"/>
              </a:rPr>
              <a:t>.</a:t>
            </a:r>
            <a:endParaRPr lang="ru-RU" dirty="0">
              <a:solidFill>
                <a:srgbClr val="1F1F1F"/>
              </a:solidFill>
              <a:latin typeface=""/>
              <a:cs typeface="Times New Roman" panose="02020603050405020304" pitchFamily="18" charset="0"/>
            </a:endParaRPr>
          </a:p>
          <a:p>
            <a:pPr marL="228600" indent="-22860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AutoNum type="arabicPeriod"/>
            </a:pPr>
            <a:r>
              <a:rPr lang="ru-RU" dirty="0">
                <a:solidFill>
                  <a:srgbClr val="1F1F1F"/>
                </a:solidFill>
                <a:latin typeface=""/>
                <a:cs typeface="Times New Roman" panose="02020603050405020304" pitchFamily="18" charset="0"/>
              </a:rPr>
              <a:t>Построен </a:t>
            </a:r>
            <a:r>
              <a:rPr lang="en-US" dirty="0">
                <a:solidFill>
                  <a:srgbClr val="1F1F1F"/>
                </a:solidFill>
                <a:latin typeface=""/>
                <a:cs typeface="Times New Roman" panose="02020603050405020304" pitchFamily="18" charset="0"/>
              </a:rPr>
              <a:t>barplot</a:t>
            </a:r>
            <a:r>
              <a:rPr lang="ru-RU" dirty="0">
                <a:solidFill>
                  <a:srgbClr val="1F1F1F"/>
                </a:solidFill>
                <a:latin typeface=""/>
                <a:cs typeface="Times New Roman" panose="02020603050405020304" pitchFamily="18" charset="0"/>
              </a:rPr>
              <a:t> среднего </a:t>
            </a:r>
            <a:r>
              <a:rPr lang="en-US" dirty="0">
                <a:solidFill>
                  <a:srgbClr val="1F1F1F"/>
                </a:solidFill>
                <a:latin typeface=""/>
                <a:cs typeface="Times New Roman" panose="02020603050405020304" pitchFamily="18" charset="0"/>
              </a:rPr>
              <a:t>tip </a:t>
            </a:r>
            <a:r>
              <a:rPr lang="ru-RU" dirty="0">
                <a:solidFill>
                  <a:srgbClr val="1F1F1F"/>
                </a:solidFill>
                <a:latin typeface=""/>
                <a:cs typeface="Times New Roman" panose="02020603050405020304" pitchFamily="18" charset="0"/>
              </a:rPr>
              <a:t>по </a:t>
            </a:r>
            <a:r>
              <a:rPr lang="en-US" dirty="0">
                <a:solidFill>
                  <a:srgbClr val="1F1F1F"/>
                </a:solidFill>
                <a:latin typeface=""/>
                <a:cs typeface="Times New Roman" panose="02020603050405020304" pitchFamily="18" charset="0"/>
              </a:rPr>
              <a:t>day.</a:t>
            </a:r>
            <a:endParaRPr lang="ru-RU" dirty="0">
              <a:solidFill>
                <a:srgbClr val="1F1F1F"/>
              </a:solidFill>
              <a:latin typeface=""/>
              <a:cs typeface="Times New Roman" panose="02020603050405020304" pitchFamily="18" charset="0"/>
            </a:endParaRPr>
          </a:p>
          <a:p>
            <a:pPr marL="228600" indent="-22860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AutoNum type="arabicPeriod"/>
            </a:pPr>
            <a:r>
              <a:rPr lang="ru-RU" dirty="0">
                <a:solidFill>
                  <a:srgbClr val="1F1F1F"/>
                </a:solidFill>
                <a:latin typeface=""/>
                <a:cs typeface="Times New Roman" panose="02020603050405020304" pitchFamily="18" charset="0"/>
              </a:rPr>
              <a:t>Построен countplot заказов по day с разбивкой по time.</a:t>
            </a:r>
          </a:p>
          <a:p>
            <a:pPr marL="228600" indent="-22860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AutoNum type="arabicPeriod"/>
            </a:pPr>
            <a:r>
              <a:rPr lang="ru-RU" dirty="0">
                <a:solidFill>
                  <a:srgbClr val="1F1F1F"/>
                </a:solidFill>
                <a:latin typeface=""/>
                <a:cs typeface="Times New Roman" panose="02020603050405020304" pitchFamily="18" charset="0"/>
              </a:rPr>
              <a:t>Сделан вывод</a:t>
            </a:r>
            <a:r>
              <a:rPr lang="en-US" dirty="0">
                <a:solidFill>
                  <a:srgbClr val="1F1F1F"/>
                </a:solidFill>
                <a:latin typeface=""/>
                <a:cs typeface="Times New Roman" panose="02020603050405020304" pitchFamily="18" charset="0"/>
              </a:rPr>
              <a:t>: </a:t>
            </a:r>
          </a:p>
          <a:p>
            <a:pPr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</a:pPr>
            <a:r>
              <a:rPr lang="ru-RU" b="0" dirty="0">
                <a:solidFill>
                  <a:srgbClr val="116329"/>
                </a:solidFill>
                <a:effectLst/>
                <a:latin typeface=""/>
              </a:rPr>
              <a:t>Вечернее время (</a:t>
            </a:r>
            <a:r>
              <a:rPr lang="ru-RU" b="0" dirty="0">
                <a:solidFill>
                  <a:srgbClr val="0550AE"/>
                </a:solidFill>
                <a:effectLst/>
                <a:latin typeface=""/>
              </a:rPr>
              <a:t>`</a:t>
            </a:r>
            <a:r>
              <a:rPr lang="en" b="0" dirty="0">
                <a:solidFill>
                  <a:srgbClr val="0550AE"/>
                </a:solidFill>
                <a:effectLst/>
                <a:latin typeface=""/>
              </a:rPr>
              <a:t>Dinner`</a:t>
            </a:r>
            <a:r>
              <a:rPr lang="en" b="0" dirty="0">
                <a:solidFill>
                  <a:srgbClr val="116329"/>
                </a:solidFill>
                <a:effectLst/>
                <a:latin typeface=""/>
              </a:rPr>
              <a:t>) </a:t>
            </a:r>
            <a:r>
              <a:rPr lang="ru-RU" b="0" dirty="0">
                <a:solidFill>
                  <a:srgbClr val="116329"/>
                </a:solidFill>
                <a:effectLst/>
                <a:latin typeface=""/>
              </a:rPr>
              <a:t>генерирует в 3 раза больший поток транзакций и значительно более высокий средний чек, чем обеденное (</a:t>
            </a:r>
            <a:r>
              <a:rPr lang="ru-RU" b="0" dirty="0">
                <a:solidFill>
                  <a:srgbClr val="0550AE"/>
                </a:solidFill>
                <a:effectLst/>
                <a:latin typeface=""/>
              </a:rPr>
              <a:t>`</a:t>
            </a:r>
            <a:r>
              <a:rPr lang="en" b="0" dirty="0">
                <a:solidFill>
                  <a:srgbClr val="0550AE"/>
                </a:solidFill>
                <a:effectLst/>
                <a:latin typeface=""/>
              </a:rPr>
              <a:t>Lunch`</a:t>
            </a:r>
            <a:r>
              <a:rPr lang="en" b="0" dirty="0">
                <a:solidFill>
                  <a:srgbClr val="116329"/>
                </a:solidFill>
                <a:effectLst/>
                <a:latin typeface=""/>
              </a:rPr>
              <a:t>). </a:t>
            </a:r>
            <a:r>
              <a:rPr lang="ru-RU" b="0" dirty="0">
                <a:solidFill>
                  <a:srgbClr val="116329"/>
                </a:solidFill>
                <a:effectLst/>
                <a:latin typeface=""/>
              </a:rPr>
              <a:t>Суббота и воскресенье являются ключевыми днями генерации выручки. При этом пятница показывает интересный продуктовый паттерн: объем заказов минимален, но средний чек держится на уровне субботы. Управленческий вывод: дневное время (</a:t>
            </a:r>
            <a:r>
              <a:rPr lang="ru-RU" b="0" dirty="0">
                <a:solidFill>
                  <a:srgbClr val="0550AE"/>
                </a:solidFill>
                <a:effectLst/>
                <a:latin typeface=""/>
              </a:rPr>
              <a:t>`</a:t>
            </a:r>
            <a:r>
              <a:rPr lang="en" b="0" dirty="0">
                <a:solidFill>
                  <a:srgbClr val="0550AE"/>
                </a:solidFill>
                <a:effectLst/>
                <a:latin typeface=""/>
              </a:rPr>
              <a:t>Lunch`</a:t>
            </a:r>
            <a:r>
              <a:rPr lang="en" b="0" dirty="0">
                <a:solidFill>
                  <a:srgbClr val="116329"/>
                </a:solidFill>
                <a:effectLst/>
                <a:latin typeface=""/>
              </a:rPr>
              <a:t>) </a:t>
            </a:r>
            <a:r>
              <a:rPr lang="ru-RU" b="0" dirty="0">
                <a:solidFill>
                  <a:srgbClr val="116329"/>
                </a:solidFill>
                <a:effectLst/>
                <a:latin typeface=""/>
              </a:rPr>
              <a:t>и будние дни — это недоиспользованный актив. Кухня и заготовочные цеха простаивают, хотя постоянные косты заведения остаются прежними.</a:t>
            </a:r>
            <a:endParaRPr lang="ru-RU" b="0" dirty="0">
              <a:solidFill>
                <a:srgbClr val="202020"/>
              </a:solidFill>
              <a:effectLst/>
              <a:latin typeface="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3E333B7-9135-355F-E79D-AF74DA5F7B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0329" y="217594"/>
            <a:ext cx="6311900" cy="615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4185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7230"/>
    </mc:Choice>
    <mc:Fallback xmlns="">
      <p:transition spd="slow" advTm="2723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90;p13">
            <a:extLst>
              <a:ext uri="{FF2B5EF4-FFF2-40B4-BE49-F238E27FC236}">
                <a16:creationId xmlns:a16="http://schemas.microsoft.com/office/drawing/2014/main" id="{8D54DDAA-CCED-4728-A1CF-3CAEE34A55BC}"/>
              </a:ext>
            </a:extLst>
          </p:cNvPr>
          <p:cNvSpPr txBox="1"/>
          <p:nvPr/>
        </p:nvSpPr>
        <p:spPr>
          <a:xfrm>
            <a:off x="147110" y="313583"/>
            <a:ext cx="4267075" cy="3436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</a:pPr>
            <a:r>
              <a:rPr lang="ru-RU" sz="1750" b="1" dirty="0">
                <a:solidFill>
                  <a:srgbClr val="1F1F1F"/>
                </a:solidFill>
                <a:effectLst/>
                <a:latin typeface=""/>
                <a:ea typeface="Times New Roman" panose="02020603050405020304" pitchFamily="18" charset="0"/>
                <a:cs typeface="Times New Roman" panose="02020603050405020304" pitchFamily="18" charset="0"/>
              </a:rPr>
              <a:t>Решение задания </a:t>
            </a:r>
            <a:r>
              <a:rPr lang="ru-RU" sz="1750" b="1" dirty="0">
                <a:solidFill>
                  <a:srgbClr val="1F1F1F"/>
                </a:solidFill>
                <a:latin typeface=""/>
                <a:cs typeface="Times New Roman" panose="02020603050405020304" pitchFamily="18" charset="0"/>
              </a:rPr>
              <a:t>6. Клиентские группы</a:t>
            </a:r>
          </a:p>
          <a:p>
            <a:pPr marL="228600" indent="-22860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AutoNum type="arabicPeriod"/>
            </a:pPr>
            <a:r>
              <a:rPr lang="ru-RU" dirty="0">
                <a:solidFill>
                  <a:srgbClr val="1F1F1F"/>
                </a:solidFill>
                <a:latin typeface=""/>
                <a:ea typeface="Times New Roman" panose="02020603050405020304" pitchFamily="18" charset="0"/>
                <a:cs typeface="Times New Roman" panose="02020603050405020304" pitchFamily="18" charset="0"/>
              </a:rPr>
              <a:t>Выполнено сравнение </a:t>
            </a:r>
            <a:r>
              <a:rPr lang="ru-RU" dirty="0">
                <a:solidFill>
                  <a:srgbClr val="1F1F1F"/>
                </a:solidFill>
                <a:effectLst/>
                <a:latin typeface=""/>
                <a:ea typeface="Times New Roman" panose="02020603050405020304" pitchFamily="18" charset="0"/>
                <a:cs typeface="Times New Roman" panose="02020603050405020304" pitchFamily="18" charset="0"/>
              </a:rPr>
              <a:t>средних показателей по sex.</a:t>
            </a:r>
          </a:p>
          <a:p>
            <a:pPr marL="228600" indent="-22860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AutoNum type="arabicPeriod"/>
            </a:pPr>
            <a:r>
              <a:rPr lang="ru-RU" dirty="0">
                <a:solidFill>
                  <a:srgbClr val="1F1F1F"/>
                </a:solidFill>
                <a:latin typeface=""/>
                <a:ea typeface="Times New Roman" panose="02020603050405020304" pitchFamily="18" charset="0"/>
                <a:cs typeface="Times New Roman" panose="02020603050405020304" pitchFamily="18" charset="0"/>
              </a:rPr>
              <a:t>Выполнено сравнение средних показателей по </a:t>
            </a:r>
            <a:r>
              <a:rPr lang="en-US" dirty="0">
                <a:solidFill>
                  <a:srgbClr val="1F1F1F"/>
                </a:solidFill>
                <a:latin typeface=""/>
                <a:ea typeface="Times New Roman" panose="02020603050405020304" pitchFamily="18" charset="0"/>
                <a:cs typeface="Times New Roman" panose="02020603050405020304" pitchFamily="18" charset="0"/>
              </a:rPr>
              <a:t>smoker</a:t>
            </a:r>
            <a:endParaRPr lang="ru-RU" dirty="0">
              <a:solidFill>
                <a:srgbClr val="1F1F1F"/>
              </a:solidFill>
              <a:latin typeface="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</a:pPr>
            <a:r>
              <a:rPr lang="ru-RU" dirty="0">
                <a:solidFill>
                  <a:srgbClr val="1F1F1F"/>
                </a:solidFill>
                <a:effectLst/>
                <a:latin typeface=""/>
                <a:ea typeface="Times New Roman" panose="02020603050405020304" pitchFamily="18" charset="0"/>
                <a:cs typeface="Times New Roman" panose="02020603050405020304" pitchFamily="18" charset="0"/>
              </a:rPr>
              <a:t>3. Построен barplot tip по sex с разбивкой по smoker.</a:t>
            </a:r>
          </a:p>
          <a:p>
            <a:pPr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</a:pPr>
            <a:r>
              <a:rPr lang="ru-RU" dirty="0">
                <a:solidFill>
                  <a:srgbClr val="1F1F1F"/>
                </a:solidFill>
                <a:effectLst/>
                <a:latin typeface=""/>
                <a:ea typeface="Times New Roman" panose="02020603050405020304" pitchFamily="18" charset="0"/>
                <a:cs typeface="Times New Roman" panose="02020603050405020304" pitchFamily="18" charset="0"/>
              </a:rPr>
              <a:t>4. Построен </a:t>
            </a:r>
            <a:r>
              <a:rPr lang="en-US" dirty="0">
                <a:solidFill>
                  <a:srgbClr val="1F1F1F"/>
                </a:solidFill>
                <a:effectLst/>
                <a:latin typeface=""/>
                <a:ea typeface="Times New Roman" panose="02020603050405020304" pitchFamily="18" charset="0"/>
                <a:cs typeface="Times New Roman" panose="02020603050405020304" pitchFamily="18" charset="0"/>
              </a:rPr>
              <a:t>boxplot tip_percent </a:t>
            </a:r>
            <a:r>
              <a:rPr lang="ru-RU" dirty="0">
                <a:solidFill>
                  <a:srgbClr val="1F1F1F"/>
                </a:solidFill>
                <a:effectLst/>
                <a:latin typeface=""/>
                <a:ea typeface="Times New Roman" panose="02020603050405020304" pitchFamily="18" charset="0"/>
                <a:cs typeface="Times New Roman" panose="02020603050405020304" pitchFamily="18" charset="0"/>
              </a:rPr>
              <a:t>по </a:t>
            </a:r>
            <a:r>
              <a:rPr lang="en-US" dirty="0">
                <a:solidFill>
                  <a:srgbClr val="1F1F1F"/>
                </a:solidFill>
                <a:effectLst/>
                <a:latin typeface=""/>
                <a:ea typeface="Times New Roman" panose="02020603050405020304" pitchFamily="18" charset="0"/>
                <a:cs typeface="Times New Roman" panose="02020603050405020304" pitchFamily="18" charset="0"/>
              </a:rPr>
              <a:t>smoker.</a:t>
            </a:r>
            <a:endParaRPr lang="en-US" dirty="0">
              <a:solidFill>
                <a:srgbClr val="1F1F1F"/>
              </a:solidFill>
              <a:latin typeface="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</a:pPr>
            <a:r>
              <a:rPr lang="ru-RU" dirty="0">
                <a:solidFill>
                  <a:srgbClr val="1F1F1F"/>
                </a:solidFill>
                <a:effectLst/>
                <a:latin typeface=""/>
                <a:ea typeface="Times New Roman" panose="02020603050405020304" pitchFamily="18" charset="0"/>
                <a:cs typeface="Times New Roman" panose="02020603050405020304" pitchFamily="18" charset="0"/>
              </a:rPr>
              <a:t>5. Сделан краткий вывод</a:t>
            </a:r>
            <a:r>
              <a:rPr lang="en-US" dirty="0">
                <a:solidFill>
                  <a:srgbClr val="1F1F1F"/>
                </a:solidFill>
                <a:effectLst/>
                <a:latin typeface="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06057A1-75F9-4E30-C8BA-47F079BDC1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0986" y="313583"/>
            <a:ext cx="7630704" cy="430849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17FB2E0-49F0-45F0-4FCB-8D6056613EFE}"/>
              </a:ext>
            </a:extLst>
          </p:cNvPr>
          <p:cNvSpPr txBox="1"/>
          <p:nvPr/>
        </p:nvSpPr>
        <p:spPr>
          <a:xfrm>
            <a:off x="350310" y="4388506"/>
            <a:ext cx="6862431" cy="16891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</a:pPr>
            <a:r>
              <a:rPr lang="ru-RU" b="0" dirty="0">
                <a:solidFill>
                  <a:srgbClr val="116329"/>
                </a:solidFill>
                <a:effectLst/>
                <a:latin typeface=""/>
              </a:rPr>
              <a:t>Мужчины в среднем закрывают более высокие чеки и оставляют чуть большие абсолютные чаевые, чем женщины. Однако курящие компании демонстрируют повышенную импульсивность: разброс (дисперсия) размера чаевых и относительного процента у них значительно шире, чем у стабильных некурящих гостей. Однозначные выводы только по демографии делать нельзя, так как поведенческие факторы и контекст визита (например, выходной день или будний обед) оказывают большее синергетическое влияние на чек.</a:t>
            </a:r>
            <a:endParaRPr lang="ru-RU" dirty="0">
              <a:solidFill>
                <a:srgbClr val="1F1F1F"/>
              </a:solidFill>
              <a:highlight>
                <a:srgbClr val="FFFF00"/>
              </a:highlight>
              <a:latin typeface="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55642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2465"/>
    </mc:Choice>
    <mc:Fallback xmlns="">
      <p:transition spd="slow" advTm="22465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BCFFAC-CBF7-4723-3EE9-6F80D31BE7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6850" y="-58629"/>
            <a:ext cx="3224463" cy="1635504"/>
          </a:xfrm>
        </p:spPr>
        <p:txBody>
          <a:bodyPr>
            <a:noAutofit/>
          </a:bodyPr>
          <a:lstStyle/>
          <a:p>
            <a:r>
              <a:rPr lang="ru-RU" sz="1600" b="1" dirty="0">
                <a:solidFill>
                  <a:srgbClr val="0550AE"/>
                </a:solidFill>
                <a:effectLst/>
                <a:latin typeface=""/>
              </a:rPr>
              <a:t>Промежуточное задание. Математическая проверка продуктовых гипотез</a:t>
            </a:r>
            <a:endParaRPr lang="ru-RU" sz="1600" b="1" dirty="0">
              <a:latin typeface="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1C2B75B-679E-DE62-C704-1016F5C9ED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6850" y="1758616"/>
            <a:ext cx="3224463" cy="3340768"/>
          </a:xfrm>
        </p:spPr>
        <p:txBody>
          <a:bodyPr>
            <a:normAutofit fontScale="85000" lnSpcReduction="10000"/>
          </a:bodyPr>
          <a:lstStyle/>
          <a:p>
            <a:pPr algn="l">
              <a:lnSpc>
                <a:spcPts val="1950"/>
              </a:lnSpc>
            </a:pPr>
            <a:r>
              <a:rPr lang="ru-RU" sz="1700" b="0" dirty="0">
                <a:solidFill>
                  <a:srgbClr val="202020"/>
                </a:solidFill>
                <a:effectLst/>
                <a:latin typeface=""/>
              </a:rPr>
              <a:t>    Необходимо:</a:t>
            </a:r>
          </a:p>
          <a:p>
            <a:pPr algn="l">
              <a:lnSpc>
                <a:spcPts val="1950"/>
              </a:lnSpc>
            </a:pPr>
            <a:r>
              <a:rPr lang="ru-RU" sz="1700" b="0" dirty="0">
                <a:solidFill>
                  <a:srgbClr val="953800"/>
                </a:solidFill>
                <a:effectLst/>
                <a:latin typeface=""/>
              </a:rPr>
              <a:t>1.</a:t>
            </a:r>
            <a:r>
              <a:rPr lang="ru-RU" sz="1700" b="0" dirty="0">
                <a:solidFill>
                  <a:srgbClr val="202020"/>
                </a:solidFill>
                <a:effectLst/>
                <a:latin typeface=""/>
              </a:rPr>
              <a:t> Сформулировать гипотезу о равенстве средних чеков на человека в обед и ужин.</a:t>
            </a:r>
          </a:p>
          <a:p>
            <a:pPr algn="l">
              <a:lnSpc>
                <a:spcPts val="1950"/>
              </a:lnSpc>
            </a:pPr>
            <a:r>
              <a:rPr lang="ru-RU" sz="1700" b="0" dirty="0">
                <a:solidFill>
                  <a:srgbClr val="953800"/>
                </a:solidFill>
                <a:effectLst/>
                <a:latin typeface=""/>
              </a:rPr>
              <a:t>2.</a:t>
            </a:r>
            <a:r>
              <a:rPr lang="ru-RU" sz="1700" b="0" dirty="0">
                <a:solidFill>
                  <a:srgbClr val="202020"/>
                </a:solidFill>
                <a:effectLst/>
                <a:latin typeface=""/>
              </a:rPr>
              <a:t> Применить двухвыборочный </a:t>
            </a:r>
            <a:r>
              <a:rPr lang="en" sz="1700" b="0" dirty="0">
                <a:solidFill>
                  <a:srgbClr val="202020"/>
                </a:solidFill>
                <a:effectLst/>
                <a:latin typeface=""/>
              </a:rPr>
              <a:t>T-</a:t>
            </a:r>
            <a:r>
              <a:rPr lang="ru-RU" sz="1700" b="0" dirty="0">
                <a:solidFill>
                  <a:srgbClr val="202020"/>
                </a:solidFill>
                <a:effectLst/>
                <a:latin typeface=""/>
              </a:rPr>
              <a:t>критерий Стьюдента для независимых выборок.</a:t>
            </a:r>
          </a:p>
          <a:p>
            <a:pPr algn="l">
              <a:lnSpc>
                <a:spcPts val="1950"/>
              </a:lnSpc>
            </a:pPr>
            <a:r>
              <a:rPr lang="ru-RU" sz="1700" b="0" dirty="0">
                <a:solidFill>
                  <a:srgbClr val="953800"/>
                </a:solidFill>
                <a:effectLst/>
                <a:latin typeface=""/>
              </a:rPr>
              <a:t>3.</a:t>
            </a:r>
            <a:r>
              <a:rPr lang="ru-RU" sz="1700" b="0" dirty="0">
                <a:solidFill>
                  <a:srgbClr val="202020"/>
                </a:solidFill>
                <a:effectLst/>
                <a:latin typeface=""/>
              </a:rPr>
              <a:t> Рассчитать значение </a:t>
            </a:r>
            <a:r>
              <a:rPr lang="en" sz="1700" b="0" dirty="0">
                <a:solidFill>
                  <a:srgbClr val="202020"/>
                </a:solidFill>
                <a:effectLst/>
                <a:latin typeface=""/>
              </a:rPr>
              <a:t>p-value </a:t>
            </a:r>
            <a:r>
              <a:rPr lang="ru-RU" sz="1700" b="0" dirty="0">
                <a:solidFill>
                  <a:srgbClr val="202020"/>
                </a:solidFill>
                <a:effectLst/>
                <a:latin typeface=""/>
              </a:rPr>
              <a:t>и сделать статистический вывод.</a:t>
            </a:r>
          </a:p>
          <a:p>
            <a:endParaRPr lang="ru-RU" dirty="0">
              <a:latin typeface="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3D5A58D-949A-F979-F0A5-3E56241114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598" y="1320991"/>
            <a:ext cx="8367552" cy="175869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AE0E43D-8379-74D6-09AD-A28143D0B379}"/>
              </a:ext>
            </a:extLst>
          </p:cNvPr>
          <p:cNvSpPr txBox="1"/>
          <p:nvPr/>
        </p:nvSpPr>
        <p:spPr>
          <a:xfrm>
            <a:off x="3657598" y="3650904"/>
            <a:ext cx="7437110" cy="2126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50"/>
              </a:lnSpc>
            </a:pPr>
            <a:r>
              <a:rPr lang="ru-RU" sz="1600" b="1" dirty="0">
                <a:solidFill>
                  <a:srgbClr val="1F2328"/>
                </a:solidFill>
                <a:effectLst/>
                <a:latin typeface=""/>
              </a:rPr>
              <a:t>Краткий аналитический вывод: </a:t>
            </a:r>
            <a:r>
              <a:rPr lang="ru-RU" sz="1600" b="0" dirty="0">
                <a:solidFill>
                  <a:srgbClr val="116329"/>
                </a:solidFill>
                <a:effectLst/>
                <a:latin typeface=""/>
              </a:rPr>
              <a:t>Сформулирована нулевая гипотеза об отсутствии различий в удельных расходах гостей между обедом и ужином. По результатам Т-теста получено значение </a:t>
            </a:r>
            <a:r>
              <a:rPr lang="en" sz="1600" b="0" dirty="0">
                <a:solidFill>
                  <a:srgbClr val="116329"/>
                </a:solidFill>
                <a:effectLst/>
                <a:latin typeface=""/>
              </a:rPr>
              <a:t>p-value = 0.0332, </a:t>
            </a:r>
            <a:r>
              <a:rPr lang="ru-RU" sz="1600" b="0" dirty="0">
                <a:solidFill>
                  <a:srgbClr val="116329"/>
                </a:solidFill>
                <a:effectLst/>
                <a:latin typeface=""/>
              </a:rPr>
              <a:t>что строго ниже критического уровня значимости 0.05. Нулевая гипотеза отвергается. Разница между средним обеденным чеком на человека (\$7.32) и вечерним (\$8.11) статистически значима и подтверждена математически. Бизнесу необходимо внедрять инструменты для искусственного поднятия продаж в дневные часы.</a:t>
            </a:r>
          </a:p>
        </p:txBody>
      </p:sp>
    </p:spTree>
    <p:extLst>
      <p:ext uri="{BB962C8B-B14F-4D97-AF65-F5344CB8AC3E}">
        <p14:creationId xmlns:p14="http://schemas.microsoft.com/office/powerpoint/2010/main" val="989517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4944"/>
    </mc:Choice>
    <mc:Fallback xmlns="">
      <p:transition spd="slow" advTm="24944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90;p13">
            <a:extLst>
              <a:ext uri="{FF2B5EF4-FFF2-40B4-BE49-F238E27FC236}">
                <a16:creationId xmlns:a16="http://schemas.microsoft.com/office/drawing/2014/main" id="{8D54DDAA-CCED-4728-A1CF-3CAEE34A55BC}"/>
              </a:ext>
            </a:extLst>
          </p:cNvPr>
          <p:cNvSpPr txBox="1"/>
          <p:nvPr/>
        </p:nvSpPr>
        <p:spPr>
          <a:xfrm>
            <a:off x="422736" y="207941"/>
            <a:ext cx="5486996" cy="2936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</a:pPr>
            <a:r>
              <a:rPr lang="ru-RU" b="1" dirty="0">
                <a:solidFill>
                  <a:srgbClr val="1F1F1F"/>
                </a:solidFill>
                <a:effectLst/>
                <a:latin typeface=""/>
                <a:ea typeface="Times New Roman" panose="02020603050405020304" pitchFamily="18" charset="0"/>
                <a:cs typeface="Times New Roman" panose="02020603050405020304" pitchFamily="18" charset="0"/>
              </a:rPr>
              <a:t>Решение дополнительного задания </a:t>
            </a:r>
            <a:r>
              <a:rPr lang="ru-RU" b="1" dirty="0">
                <a:solidFill>
                  <a:srgbClr val="1F1F1F"/>
                </a:solidFill>
                <a:latin typeface=""/>
                <a:cs typeface="Times New Roman" panose="02020603050405020304" pitchFamily="18" charset="0"/>
              </a:rPr>
              <a:t>7. Сегментация заказов по размеру компании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dirty="0">
                <a:solidFill>
                  <a:srgbClr val="1F1F1F"/>
                </a:solidFill>
                <a:effectLst/>
                <a:latin typeface=""/>
                <a:ea typeface="Times New Roman" panose="02020603050405020304" pitchFamily="18" charset="0"/>
                <a:cs typeface="Times New Roman" panose="02020603050405020304" pitchFamily="18" charset="0"/>
              </a:rPr>
              <a:t>Рассчитан средний </a:t>
            </a:r>
            <a:r>
              <a:rPr lang="en-US" dirty="0">
                <a:solidFill>
                  <a:srgbClr val="1F1F1F"/>
                </a:solidFill>
                <a:effectLst/>
                <a:latin typeface=""/>
                <a:ea typeface="Times New Roman" panose="02020603050405020304" pitchFamily="18" charset="0"/>
                <a:cs typeface="Times New Roman" panose="02020603050405020304" pitchFamily="18" charset="0"/>
              </a:rPr>
              <a:t>total_bill, tip, tip_percent </a:t>
            </a:r>
            <a:r>
              <a:rPr lang="ru-RU" dirty="0">
                <a:solidFill>
                  <a:srgbClr val="1F1F1F"/>
                </a:solidFill>
                <a:effectLst/>
                <a:latin typeface=""/>
                <a:ea typeface="Times New Roman" panose="02020603050405020304" pitchFamily="18" charset="0"/>
                <a:cs typeface="Times New Roman" panose="02020603050405020304" pitchFamily="18" charset="0"/>
              </a:rPr>
              <a:t>по </a:t>
            </a:r>
            <a:r>
              <a:rPr lang="en-US" dirty="0">
                <a:solidFill>
                  <a:srgbClr val="1F1F1F"/>
                </a:solidFill>
                <a:effectLst/>
                <a:latin typeface=""/>
                <a:ea typeface="Times New Roman" panose="02020603050405020304" pitchFamily="18" charset="0"/>
                <a:cs typeface="Times New Roman" panose="02020603050405020304" pitchFamily="18" charset="0"/>
              </a:rPr>
              <a:t>size.</a:t>
            </a:r>
            <a:endParaRPr lang="ru-RU" dirty="0">
              <a:solidFill>
                <a:srgbClr val="1F1F1F"/>
              </a:solidFill>
              <a:effectLst/>
              <a:latin typeface="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it-IT" dirty="0">
                <a:solidFill>
                  <a:srgbClr val="1F1F1F"/>
                </a:solidFill>
                <a:effectLst/>
                <a:latin typeface=""/>
                <a:ea typeface="Times New Roman" panose="02020603050405020304" pitchFamily="18" charset="0"/>
                <a:cs typeface="Times New Roman" panose="02020603050405020304" pitchFamily="18" charset="0"/>
              </a:rPr>
              <a:t>Созда</a:t>
            </a:r>
            <a:r>
              <a:rPr lang="ru-RU" dirty="0">
                <a:solidFill>
                  <a:srgbClr val="1F1F1F"/>
                </a:solidFill>
                <a:effectLst/>
                <a:latin typeface=""/>
                <a:ea typeface="Times New Roman" panose="02020603050405020304" pitchFamily="18" charset="0"/>
                <a:cs typeface="Times New Roman" panose="02020603050405020304" pitchFamily="18" charset="0"/>
              </a:rPr>
              <a:t>н</a:t>
            </a:r>
            <a:r>
              <a:rPr lang="it-IT" dirty="0">
                <a:solidFill>
                  <a:srgbClr val="1F1F1F"/>
                </a:solidFill>
                <a:effectLst/>
                <a:latin typeface=""/>
                <a:ea typeface="Times New Roman" panose="02020603050405020304" pitchFamily="18" charset="0"/>
                <a:cs typeface="Times New Roman" panose="02020603050405020304" pitchFamily="18" charset="0"/>
              </a:rPr>
              <a:t> bill_per_person и tip_per_person.</a:t>
            </a:r>
            <a:endParaRPr lang="ru-RU" dirty="0">
              <a:solidFill>
                <a:srgbClr val="1F1F1F"/>
              </a:solidFill>
              <a:effectLst/>
              <a:latin typeface="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dirty="0">
                <a:solidFill>
                  <a:srgbClr val="1F1F1F"/>
                </a:solidFill>
                <a:effectLst/>
                <a:latin typeface=""/>
                <a:ea typeface="Times New Roman" panose="02020603050405020304" pitchFamily="18" charset="0"/>
                <a:cs typeface="Times New Roman" panose="02020603050405020304" pitchFamily="18" charset="0"/>
              </a:rPr>
              <a:t>Рассчитаны показатели на одного человека по size.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dirty="0">
                <a:solidFill>
                  <a:srgbClr val="1F1F1F"/>
                </a:solidFill>
                <a:effectLst/>
                <a:latin typeface=""/>
                <a:ea typeface="Times New Roman" panose="02020603050405020304" pitchFamily="18" charset="0"/>
                <a:cs typeface="Times New Roman" panose="02020603050405020304" pitchFamily="18" charset="0"/>
              </a:rPr>
              <a:t>Построен lineplot для абсолютных и относительных показателей.</a:t>
            </a: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dirty="0">
                <a:solidFill>
                  <a:srgbClr val="1F1F1F"/>
                </a:solidFill>
                <a:latin typeface=""/>
                <a:ea typeface="Times New Roman" panose="02020603050405020304" pitchFamily="18" charset="0"/>
                <a:cs typeface="Times New Roman" panose="02020603050405020304" pitchFamily="18" charset="0"/>
              </a:rPr>
              <a:t>Сделан краткий вывод</a:t>
            </a:r>
            <a:r>
              <a:rPr lang="en-US" dirty="0">
                <a:solidFill>
                  <a:srgbClr val="1F1F1F"/>
                </a:solidFill>
                <a:latin typeface="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dirty="0">
              <a:solidFill>
                <a:srgbClr val="1F1F1F"/>
              </a:solidFill>
              <a:highlight>
                <a:srgbClr val="FFFF00"/>
              </a:highlight>
              <a:latin typeface="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endParaRPr lang="ru-RU" b="1" dirty="0">
              <a:solidFill>
                <a:srgbClr val="1F1F1F"/>
              </a:solidFill>
              <a:latin typeface="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74FCAC-CF6B-617B-9F28-F77D17B86A94}"/>
              </a:ext>
            </a:extLst>
          </p:cNvPr>
          <p:cNvSpPr txBox="1"/>
          <p:nvPr/>
        </p:nvSpPr>
        <p:spPr>
          <a:xfrm>
            <a:off x="267117" y="2725353"/>
            <a:ext cx="4129109" cy="3659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ts val="1950"/>
              </a:lnSpc>
            </a:pPr>
            <a:r>
              <a:rPr lang="ru-RU" b="0" dirty="0">
                <a:solidFill>
                  <a:srgbClr val="116329"/>
                </a:solidFill>
                <a:effectLst/>
                <a:latin typeface=""/>
              </a:rPr>
              <a:t>Выявлен критический «парадокс больших компаний». При росте физического количества человек за столом абсолютная выручка со стола растет, но удельная эффективность на один стул резко падает. Средний чек на одного гостя (</a:t>
            </a:r>
            <a:r>
              <a:rPr lang="ru-RU" b="0" dirty="0">
                <a:solidFill>
                  <a:srgbClr val="0550AE"/>
                </a:solidFill>
                <a:effectLst/>
                <a:latin typeface=""/>
              </a:rPr>
              <a:t>`</a:t>
            </a:r>
            <a:r>
              <a:rPr lang="en" b="0" dirty="0">
                <a:solidFill>
                  <a:srgbClr val="0550AE"/>
                </a:solidFill>
                <a:effectLst/>
                <a:latin typeface=""/>
              </a:rPr>
              <a:t>bill_per_person`</a:t>
            </a:r>
            <a:r>
              <a:rPr lang="en" b="0" dirty="0">
                <a:solidFill>
                  <a:srgbClr val="116329"/>
                </a:solidFill>
                <a:effectLst/>
                <a:latin typeface=""/>
              </a:rPr>
              <a:t>) </a:t>
            </a:r>
            <a:r>
              <a:rPr lang="ru-RU" b="0" dirty="0">
                <a:solidFill>
                  <a:srgbClr val="116329"/>
                </a:solidFill>
                <a:effectLst/>
                <a:latin typeface=""/>
              </a:rPr>
              <a:t>и маржинальность чаевых достигают пика на столах для двоих (</a:t>
            </a:r>
            <a:r>
              <a:rPr lang="ru-RU" b="0" dirty="0">
                <a:solidFill>
                  <a:srgbClr val="0550AE"/>
                </a:solidFill>
                <a:effectLst/>
                <a:latin typeface=""/>
              </a:rPr>
              <a:t>`</a:t>
            </a:r>
            <a:r>
              <a:rPr lang="en" b="0" dirty="0">
                <a:solidFill>
                  <a:srgbClr val="0550AE"/>
                </a:solidFill>
                <a:effectLst/>
                <a:latin typeface=""/>
              </a:rPr>
              <a:t>size=2`</a:t>
            </a:r>
            <a:r>
              <a:rPr lang="en" b="0" dirty="0">
                <a:solidFill>
                  <a:srgbClr val="116329"/>
                </a:solidFill>
                <a:effectLst/>
                <a:latin typeface=""/>
              </a:rPr>
              <a:t>) </a:t>
            </a:r>
            <a:r>
              <a:rPr lang="ru-RU" b="0" dirty="0">
                <a:solidFill>
                  <a:srgbClr val="116329"/>
                </a:solidFill>
                <a:effectLst/>
                <a:latin typeface=""/>
              </a:rPr>
              <a:t>и планомерно снижаются</a:t>
            </a:r>
            <a:r>
              <a:rPr lang="en-US" b="0" dirty="0">
                <a:solidFill>
                  <a:srgbClr val="116329"/>
                </a:solidFill>
                <a:effectLst/>
                <a:latin typeface=""/>
              </a:rPr>
              <a:t> </a:t>
            </a:r>
            <a:r>
              <a:rPr lang="ru-RU" b="0" dirty="0">
                <a:solidFill>
                  <a:srgbClr val="116329"/>
                </a:solidFill>
                <a:effectLst/>
                <a:latin typeface=""/>
              </a:rPr>
              <a:t>к крупным компаниям (из 5–6 человек). Крупные группы чаще заказывают комбо-плато (сеты), которые стоят дешевле в пересчете на человека, и удерживают столы значительно дольше,</a:t>
            </a:r>
            <a:r>
              <a:rPr lang="en-US" b="0" dirty="0">
                <a:solidFill>
                  <a:srgbClr val="116329"/>
                </a:solidFill>
                <a:effectLst/>
                <a:latin typeface=""/>
              </a:rPr>
              <a:t> </a:t>
            </a:r>
            <a:r>
              <a:rPr lang="ru-RU" b="0" dirty="0">
                <a:solidFill>
                  <a:srgbClr val="116329"/>
                </a:solidFill>
                <a:effectLst/>
                <a:latin typeface=""/>
              </a:rPr>
              <a:t>снижая общую оборачиваемость посадочных мест заведения.</a:t>
            </a:r>
            <a:endParaRPr lang="ru-RU" b="0" dirty="0">
              <a:solidFill>
                <a:srgbClr val="202020"/>
              </a:solidFill>
              <a:effectLst/>
              <a:latin typeface="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965A803-73A8-57F6-7251-D06890E99A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9732" y="180342"/>
            <a:ext cx="6079664" cy="3656386"/>
          </a:xfrm>
          <a:prstGeom prst="rect">
            <a:avLst/>
          </a:prstGeom>
        </p:spPr>
      </p:pic>
      <p:pic>
        <p:nvPicPr>
          <p:cNvPr id="7" name="Рисунок 6" descr="Изображение выглядит как линия, График, диаграмма, скат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307B0A98-C180-4954-4175-D482D8EBF1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6226" y="3984131"/>
            <a:ext cx="7795774" cy="2726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2954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4098"/>
    </mc:Choice>
    <mc:Fallback xmlns="">
      <p:transition spd="slow" advTm="24098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90;p13">
            <a:extLst>
              <a:ext uri="{FF2B5EF4-FFF2-40B4-BE49-F238E27FC236}">
                <a16:creationId xmlns:a16="http://schemas.microsoft.com/office/drawing/2014/main" id="{8D54DDAA-CCED-4728-A1CF-3CAEE34A55BC}"/>
              </a:ext>
            </a:extLst>
          </p:cNvPr>
          <p:cNvSpPr txBox="1"/>
          <p:nvPr/>
        </p:nvSpPr>
        <p:spPr>
          <a:xfrm>
            <a:off x="937646" y="383774"/>
            <a:ext cx="4694696" cy="3372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</a:pPr>
            <a:r>
              <a:rPr lang="ru-RU" sz="1600" b="1" dirty="0">
                <a:solidFill>
                  <a:srgbClr val="1F1F1F"/>
                </a:solidFill>
                <a:effectLst/>
                <a:latin typeface=""/>
                <a:ea typeface="Times New Roman" panose="02020603050405020304" pitchFamily="18" charset="0"/>
                <a:cs typeface="Times New Roman" panose="02020603050405020304" pitchFamily="18" charset="0"/>
              </a:rPr>
              <a:t>Решение дополнительного задания </a:t>
            </a:r>
            <a:r>
              <a:rPr lang="ru-RU" sz="1600" b="1" dirty="0">
                <a:solidFill>
                  <a:srgbClr val="1F1F1F"/>
                </a:solidFill>
                <a:latin typeface=""/>
                <a:cs typeface="Times New Roman" panose="02020603050405020304" pitchFamily="18" charset="0"/>
              </a:rPr>
              <a:t>8. Интерактивный мини-дашборд </a:t>
            </a:r>
            <a:r>
              <a:rPr lang="en-US" sz="1600" b="1" dirty="0">
                <a:solidFill>
                  <a:srgbClr val="1F1F1F"/>
                </a:solidFill>
                <a:latin typeface=""/>
                <a:cs typeface="Times New Roman" panose="02020603050405020304" pitchFamily="18" charset="0"/>
              </a:rPr>
              <a:t>Plotly</a:t>
            </a:r>
            <a:endParaRPr lang="ru-RU" sz="1600" b="1" dirty="0">
              <a:solidFill>
                <a:srgbClr val="1F1F1F"/>
              </a:solidFill>
              <a:latin typeface="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1200" dirty="0">
                <a:solidFill>
                  <a:srgbClr val="1F1F1F"/>
                </a:solidFill>
                <a:effectLst/>
                <a:latin typeface=""/>
                <a:ea typeface="Times New Roman" panose="02020603050405020304" pitchFamily="18" charset="0"/>
                <a:cs typeface="Times New Roman" panose="02020603050405020304" pitchFamily="18" charset="0"/>
              </a:rPr>
              <a:t>Построен интерактивный scatter </a:t>
            </a:r>
            <a:r>
              <a:rPr lang="en-US" sz="1200" dirty="0">
                <a:solidFill>
                  <a:srgbClr val="1F1F1F"/>
                </a:solidFill>
                <a:effectLst/>
                <a:latin typeface=""/>
                <a:ea typeface="Times New Roman" panose="02020603050405020304" pitchFamily="18" charset="0"/>
                <a:cs typeface="Times New Roman" panose="02020603050405020304" pitchFamily="18" charset="0"/>
              </a:rPr>
              <a:t>total_bill — tip</a:t>
            </a:r>
            <a:r>
              <a:rPr lang="ru-RU" sz="1200" dirty="0">
                <a:solidFill>
                  <a:srgbClr val="1F1F1F"/>
                </a:solidFill>
                <a:latin typeface="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342900" lvl="2" indent="-342900">
              <a:lnSpc>
                <a:spcPct val="107000"/>
              </a:lnSpc>
              <a:spcAft>
                <a:spcPts val="800"/>
              </a:spcAft>
              <a:buFont typeface="Courier New" panose="02070309020205020404" pitchFamily="49" charset="0"/>
              <a:buChar char="o"/>
              <a:tabLst>
                <a:tab pos="457200" algn="l"/>
              </a:tabLst>
            </a:pPr>
            <a:r>
              <a:rPr lang="ru-RU" sz="1100" dirty="0">
                <a:solidFill>
                  <a:srgbClr val="1F1F1F"/>
                </a:solidFill>
                <a:effectLst/>
                <a:latin typeface=""/>
                <a:ea typeface="Calibri" panose="020F0502020204030204" pitchFamily="34" charset="0"/>
                <a:cs typeface="Times New Roman" panose="02020603050405020304" pitchFamily="18" charset="0"/>
              </a:rPr>
              <a:t>цвет — </a:t>
            </a:r>
            <a:r>
              <a:rPr lang="en-US" sz="1100" dirty="0">
                <a:solidFill>
                  <a:srgbClr val="1F1F1F"/>
                </a:solidFill>
                <a:effectLst/>
                <a:latin typeface=""/>
                <a:ea typeface="Calibri" panose="020F0502020204030204" pitchFamily="34" charset="0"/>
                <a:cs typeface="Times New Roman" panose="02020603050405020304" pitchFamily="18" charset="0"/>
              </a:rPr>
              <a:t>day;</a:t>
            </a:r>
          </a:p>
          <a:p>
            <a:pPr marL="342900" lvl="2" indent="-342900">
              <a:lnSpc>
                <a:spcPct val="107000"/>
              </a:lnSpc>
              <a:spcAft>
                <a:spcPts val="800"/>
              </a:spcAft>
              <a:buFont typeface="Courier New" panose="02070309020205020404" pitchFamily="49" charset="0"/>
              <a:buChar char="o"/>
              <a:tabLst>
                <a:tab pos="457200" algn="l"/>
              </a:tabLst>
            </a:pPr>
            <a:r>
              <a:rPr lang="ru-RU" sz="1100" dirty="0">
                <a:solidFill>
                  <a:srgbClr val="1F1F1F"/>
                </a:solidFill>
                <a:effectLst/>
                <a:latin typeface=""/>
                <a:ea typeface="Calibri" panose="020F0502020204030204" pitchFamily="34" charset="0"/>
                <a:cs typeface="Times New Roman" panose="02020603050405020304" pitchFamily="18" charset="0"/>
              </a:rPr>
              <a:t>размер — </a:t>
            </a:r>
            <a:r>
              <a:rPr lang="en-US" sz="1100" dirty="0">
                <a:solidFill>
                  <a:srgbClr val="1F1F1F"/>
                </a:solidFill>
                <a:effectLst/>
                <a:latin typeface=""/>
                <a:ea typeface="Calibri" panose="020F0502020204030204" pitchFamily="34" charset="0"/>
                <a:cs typeface="Times New Roman" panose="02020603050405020304" pitchFamily="18" charset="0"/>
              </a:rPr>
              <a:t>size;</a:t>
            </a:r>
          </a:p>
          <a:p>
            <a:pPr marL="342900" lvl="2" indent="-342900">
              <a:lnSpc>
                <a:spcPct val="107000"/>
              </a:lnSpc>
              <a:spcAft>
                <a:spcPts val="800"/>
              </a:spcAft>
              <a:buFont typeface="Courier New" panose="02070309020205020404" pitchFamily="49" charset="0"/>
              <a:buChar char="o"/>
              <a:tabLst>
                <a:tab pos="457200" algn="l"/>
              </a:tabLst>
            </a:pPr>
            <a:r>
              <a:rPr lang="en-US" sz="1100" dirty="0">
                <a:solidFill>
                  <a:srgbClr val="1F1F1F"/>
                </a:solidFill>
                <a:effectLst/>
                <a:latin typeface=""/>
                <a:ea typeface="Calibri" panose="020F0502020204030204" pitchFamily="34" charset="0"/>
                <a:cs typeface="Times New Roman" panose="02020603050405020304" pitchFamily="18" charset="0"/>
              </a:rPr>
              <a:t>hover — sex, smoker, time, tip_percent.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1200" dirty="0">
                <a:solidFill>
                  <a:srgbClr val="1F1F1F"/>
                </a:solidFill>
                <a:effectLst/>
                <a:latin typeface=""/>
                <a:ea typeface="Times New Roman" panose="02020603050405020304" pitchFamily="18" charset="0"/>
                <a:cs typeface="Times New Roman" panose="02020603050405020304" pitchFamily="18" charset="0"/>
              </a:rPr>
              <a:t>Построен интерактивный </a:t>
            </a:r>
            <a:r>
              <a:rPr lang="en-US" sz="1200" dirty="0">
                <a:solidFill>
                  <a:srgbClr val="1F1F1F"/>
                </a:solidFill>
                <a:effectLst/>
                <a:latin typeface=""/>
                <a:ea typeface="Times New Roman" panose="02020603050405020304" pitchFamily="18" charset="0"/>
                <a:cs typeface="Times New Roman" panose="02020603050405020304" pitchFamily="18" charset="0"/>
              </a:rPr>
              <a:t>bar chart </a:t>
            </a:r>
            <a:r>
              <a:rPr lang="ru-RU" sz="1200" dirty="0">
                <a:solidFill>
                  <a:srgbClr val="1F1F1F"/>
                </a:solidFill>
                <a:effectLst/>
                <a:latin typeface=""/>
                <a:ea typeface="Times New Roman" panose="02020603050405020304" pitchFamily="18" charset="0"/>
                <a:cs typeface="Times New Roman" panose="02020603050405020304" pitchFamily="18" charset="0"/>
              </a:rPr>
              <a:t>среднего </a:t>
            </a:r>
            <a:r>
              <a:rPr lang="en-US" sz="1200" dirty="0">
                <a:solidFill>
                  <a:srgbClr val="1F1F1F"/>
                </a:solidFill>
                <a:effectLst/>
                <a:latin typeface=""/>
                <a:ea typeface="Times New Roman" panose="02020603050405020304" pitchFamily="18" charset="0"/>
                <a:cs typeface="Times New Roman" panose="02020603050405020304" pitchFamily="18" charset="0"/>
              </a:rPr>
              <a:t>tip_percent </a:t>
            </a:r>
            <a:r>
              <a:rPr lang="ru-RU" sz="1200" dirty="0">
                <a:solidFill>
                  <a:srgbClr val="1F1F1F"/>
                </a:solidFill>
                <a:effectLst/>
                <a:latin typeface=""/>
                <a:ea typeface="Times New Roman" panose="02020603050405020304" pitchFamily="18" charset="0"/>
                <a:cs typeface="Times New Roman" panose="02020603050405020304" pitchFamily="18" charset="0"/>
              </a:rPr>
              <a:t>по </a:t>
            </a:r>
            <a:r>
              <a:rPr lang="en-US" sz="1200" dirty="0">
                <a:solidFill>
                  <a:srgbClr val="1F1F1F"/>
                </a:solidFill>
                <a:effectLst/>
                <a:latin typeface=""/>
                <a:ea typeface="Times New Roman" panose="02020603050405020304" pitchFamily="18" charset="0"/>
                <a:cs typeface="Times New Roman" panose="02020603050405020304" pitchFamily="18" charset="0"/>
              </a:rPr>
              <a:t>day </a:t>
            </a:r>
            <a:r>
              <a:rPr lang="ru-RU" sz="1200" dirty="0">
                <a:solidFill>
                  <a:srgbClr val="1F1F1F"/>
                </a:solidFill>
                <a:effectLst/>
                <a:latin typeface=""/>
                <a:ea typeface="Times New Roman" panose="02020603050405020304" pitchFamily="18" charset="0"/>
                <a:cs typeface="Times New Roman" panose="02020603050405020304" pitchFamily="18" charset="0"/>
              </a:rPr>
              <a:t>и </a:t>
            </a:r>
            <a:r>
              <a:rPr lang="en-US" sz="1200" dirty="0">
                <a:solidFill>
                  <a:srgbClr val="1F1F1F"/>
                </a:solidFill>
                <a:effectLst/>
                <a:latin typeface=""/>
                <a:ea typeface="Times New Roman" panose="02020603050405020304" pitchFamily="18" charset="0"/>
                <a:cs typeface="Times New Roman" panose="02020603050405020304" pitchFamily="18" charset="0"/>
              </a:rPr>
              <a:t>time</a:t>
            </a:r>
            <a:r>
              <a:rPr lang="ru-RU" sz="1200" dirty="0">
                <a:solidFill>
                  <a:srgbClr val="1F1F1F"/>
                </a:solidFill>
                <a:effectLst/>
                <a:latin typeface="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1100" dirty="0">
              <a:solidFill>
                <a:srgbClr val="1F1F1F"/>
              </a:solidFill>
              <a:effectLst/>
              <a:latin typeface="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1200" dirty="0">
                <a:solidFill>
                  <a:srgbClr val="1F1F1F"/>
                </a:solidFill>
                <a:effectLst/>
                <a:latin typeface=""/>
                <a:ea typeface="Times New Roman" panose="02020603050405020304" pitchFamily="18" charset="0"/>
                <a:cs typeface="Times New Roman" panose="02020603050405020304" pitchFamily="18" charset="0"/>
              </a:rPr>
              <a:t>Построен интерактивный </a:t>
            </a:r>
            <a:r>
              <a:rPr lang="en-US" sz="1200" dirty="0">
                <a:solidFill>
                  <a:srgbClr val="1F1F1F"/>
                </a:solidFill>
                <a:effectLst/>
                <a:latin typeface=""/>
                <a:ea typeface="Times New Roman" panose="02020603050405020304" pitchFamily="18" charset="0"/>
                <a:cs typeface="Times New Roman" panose="02020603050405020304" pitchFamily="18" charset="0"/>
              </a:rPr>
              <a:t>sunburst: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Courier New" panose="02070309020205020404" pitchFamily="49" charset="0"/>
              <a:buChar char="o"/>
              <a:tabLst>
                <a:tab pos="457200" algn="l"/>
              </a:tabLst>
            </a:pPr>
            <a:r>
              <a:rPr lang="ru-RU" sz="1200" dirty="0">
                <a:solidFill>
                  <a:srgbClr val="1F1F1F"/>
                </a:solidFill>
                <a:effectLst/>
                <a:latin typeface=""/>
                <a:ea typeface="Times New Roman" panose="02020603050405020304" pitchFamily="18" charset="0"/>
                <a:cs typeface="Times New Roman" panose="02020603050405020304" pitchFamily="18" charset="0"/>
              </a:rPr>
              <a:t>путь: </a:t>
            </a:r>
            <a:r>
              <a:rPr lang="en-US" sz="1200" dirty="0">
                <a:solidFill>
                  <a:srgbClr val="1F1F1F"/>
                </a:solidFill>
                <a:effectLst/>
                <a:latin typeface=""/>
                <a:ea typeface="Times New Roman" panose="02020603050405020304" pitchFamily="18" charset="0"/>
                <a:cs typeface="Times New Roman" panose="02020603050405020304" pitchFamily="18" charset="0"/>
              </a:rPr>
              <a:t>day → time → smoker;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Courier New" panose="02070309020205020404" pitchFamily="49" charset="0"/>
              <a:buChar char="o"/>
              <a:tabLst>
                <a:tab pos="457200" algn="l"/>
              </a:tabLst>
            </a:pPr>
            <a:r>
              <a:rPr lang="ru-RU" sz="1200" dirty="0">
                <a:solidFill>
                  <a:srgbClr val="1F1F1F"/>
                </a:solidFill>
                <a:effectLst/>
                <a:latin typeface=""/>
                <a:ea typeface="Times New Roman" panose="02020603050405020304" pitchFamily="18" charset="0"/>
                <a:cs typeface="Times New Roman" panose="02020603050405020304" pitchFamily="18" charset="0"/>
              </a:rPr>
              <a:t>значение: </a:t>
            </a:r>
            <a:r>
              <a:rPr lang="en-US" sz="1200" dirty="0">
                <a:solidFill>
                  <a:srgbClr val="1F1F1F"/>
                </a:solidFill>
                <a:effectLst/>
                <a:latin typeface=""/>
                <a:ea typeface="Times New Roman" panose="02020603050405020304" pitchFamily="18" charset="0"/>
                <a:cs typeface="Times New Roman" panose="02020603050405020304" pitchFamily="18" charset="0"/>
              </a:rPr>
              <a:t>total_bill </a:t>
            </a:r>
            <a:r>
              <a:rPr lang="ru-RU" sz="1200" dirty="0">
                <a:solidFill>
                  <a:srgbClr val="1F1F1F"/>
                </a:solidFill>
                <a:effectLst/>
                <a:latin typeface=""/>
                <a:ea typeface="Times New Roman" panose="02020603050405020304" pitchFamily="18" charset="0"/>
                <a:cs typeface="Times New Roman" panose="02020603050405020304" pitchFamily="18" charset="0"/>
              </a:rPr>
              <a:t>или </a:t>
            </a:r>
            <a:r>
              <a:rPr lang="en-US" sz="1200" dirty="0">
                <a:solidFill>
                  <a:srgbClr val="1F1F1F"/>
                </a:solidFill>
                <a:effectLst/>
                <a:latin typeface=""/>
                <a:ea typeface="Times New Roman" panose="02020603050405020304" pitchFamily="18" charset="0"/>
                <a:cs typeface="Times New Roman" panose="02020603050405020304" pitchFamily="18" charset="0"/>
              </a:rPr>
              <a:t>tip.</a:t>
            </a:r>
            <a:endParaRPr lang="ru-RU" sz="1200" dirty="0">
              <a:solidFill>
                <a:srgbClr val="1F1F1F"/>
              </a:solidFill>
              <a:effectLst/>
              <a:latin typeface="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D681955-0D71-D1D1-B5B5-6BE712EDF6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107" y="3625516"/>
            <a:ext cx="10341212" cy="323248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CE9AB305-E9BE-AC35-BA84-891C00D208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75450"/>
            <a:ext cx="3867312" cy="3821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38807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1431"/>
    </mc:Choice>
    <mc:Fallback xmlns="">
      <p:transition spd="slow" advTm="2143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6F3174-8E5C-647F-292E-EE98ABEF06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9621" y="255465"/>
            <a:ext cx="9144000" cy="674353"/>
          </a:xfrm>
        </p:spPr>
        <p:txBody>
          <a:bodyPr>
            <a:normAutofit/>
          </a:bodyPr>
          <a:lstStyle/>
          <a:p>
            <a:r>
              <a:rPr lang="ru-RU" sz="2800" dirty="0">
                <a:solidFill>
                  <a:srgbClr val="1F1F1F"/>
                </a:solidFill>
                <a:latin typeface=""/>
                <a:ea typeface="Times New Roman" panose="02020603050405020304" pitchFamily="18" charset="0"/>
                <a:cs typeface="Times New Roman" panose="02020603050405020304" pitchFamily="18" charset="0"/>
              </a:rPr>
              <a:t>Общий в</a:t>
            </a:r>
            <a:r>
              <a:rPr lang="ru-RU" sz="2800" dirty="0">
                <a:solidFill>
                  <a:srgbClr val="1F1F1F"/>
                </a:solidFill>
                <a:effectLst/>
                <a:latin typeface=""/>
                <a:ea typeface="Times New Roman" panose="02020603050405020304" pitchFamily="18" charset="0"/>
                <a:cs typeface="Times New Roman" panose="02020603050405020304" pitchFamily="18" charset="0"/>
              </a:rPr>
              <a:t>ывод по интерактивным графикам</a:t>
            </a:r>
            <a:endParaRPr lang="ru-RU" sz="2800" dirty="0">
              <a:latin typeface="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6F91C3F-ADF2-3BB3-2390-59AEADD8F0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074509"/>
            <a:ext cx="8614611" cy="674353"/>
          </a:xfrm>
        </p:spPr>
        <p:txBody>
          <a:bodyPr>
            <a:normAutofit fontScale="25000" lnSpcReduction="20000"/>
          </a:bodyPr>
          <a:lstStyle/>
          <a:p>
            <a:r>
              <a:rPr lang="ru-RU" sz="8000" u="none" strike="noStrike" dirty="0">
                <a:solidFill>
                  <a:srgbClr val="000000"/>
                </a:solidFill>
                <a:effectLst/>
                <a:latin typeface=""/>
              </a:rPr>
              <a:t>Интерактивные инструменты </a:t>
            </a:r>
            <a:r>
              <a:rPr lang="en" sz="8000" u="none" strike="noStrike" dirty="0">
                <a:solidFill>
                  <a:srgbClr val="000000"/>
                </a:solidFill>
                <a:effectLst/>
                <a:latin typeface=""/>
              </a:rPr>
              <a:t>Plotly </a:t>
            </a:r>
            <a:r>
              <a:rPr lang="ru-RU" sz="8000" u="none" strike="noStrike" dirty="0">
                <a:solidFill>
                  <a:srgbClr val="000000"/>
                </a:solidFill>
                <a:effectLst/>
                <a:latin typeface=""/>
              </a:rPr>
              <a:t>позволили объединить плотность распределения трафика и структуру выручки в единую наглядную модель:</a:t>
            </a:r>
          </a:p>
          <a:p>
            <a:endParaRPr lang="ru-RU" dirty="0">
              <a:latin typeface="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F217BD-E78B-A738-1628-B2B23717A02B}"/>
              </a:ext>
            </a:extLst>
          </p:cNvPr>
          <p:cNvSpPr txBox="1"/>
          <p:nvPr/>
        </p:nvSpPr>
        <p:spPr>
          <a:xfrm>
            <a:off x="441157" y="1893554"/>
            <a:ext cx="11309685" cy="49859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900"/>
              </a:spcBef>
              <a:spcAft>
                <a:spcPts val="900"/>
              </a:spcAft>
              <a:buFont typeface="+mj-lt"/>
              <a:buAutoNum type="arabicPeriod"/>
            </a:pPr>
            <a:r>
              <a:rPr lang="ru-RU" sz="1800" b="1" i="0" u="none" strike="noStrike" dirty="0">
                <a:solidFill>
                  <a:srgbClr val="000000"/>
                </a:solidFill>
                <a:effectLst/>
                <a:latin typeface=""/>
              </a:rPr>
              <a:t>Диаграмма рассеяния (</a:t>
            </a:r>
            <a:r>
              <a:rPr lang="en" sz="1800" b="1" i="0" u="none" strike="noStrike" dirty="0">
                <a:solidFill>
                  <a:srgbClr val="000000"/>
                </a:solidFill>
                <a:effectLst/>
                <a:latin typeface=""/>
              </a:rPr>
              <a:t>Scatter-plot)</a:t>
            </a:r>
            <a:r>
              <a:rPr lang="en" sz="1800" b="0" i="0" u="none" strike="noStrike" dirty="0">
                <a:solidFill>
                  <a:srgbClr val="000000"/>
                </a:solidFill>
                <a:effectLst/>
                <a:latin typeface=""/>
              </a:rPr>
              <a:t> 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"/>
              </a:rPr>
              <a:t>показала, что лояльность клиентов (линейный рост чаевых) стабильна только на небольших чеках </a:t>
            </a:r>
            <a:r>
              <a:rPr lang="ru-RU" sz="1800" b="1" i="0" u="none" strike="noStrike" dirty="0">
                <a:solidFill>
                  <a:srgbClr val="000000"/>
                </a:solidFill>
                <a:effectLst/>
                <a:latin typeface=""/>
              </a:rPr>
              <a:t>до $25–30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"/>
              </a:rPr>
              <a:t>. В премиальном сегменте (чеки выше $40) поведение гостей становится хаотичным: здесь фиксируются как максимальные чаевые ($10), так и критические просадки сервиса, когда процент благодарности падает до </a:t>
            </a:r>
            <a:r>
              <a:rPr lang="ru-RU" sz="1800" b="1" i="0" u="none" strike="noStrike" dirty="0">
                <a:solidFill>
                  <a:srgbClr val="000000"/>
                </a:solidFill>
                <a:effectLst/>
                <a:latin typeface=""/>
              </a:rPr>
              <a:t>5.6%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"/>
              </a:rPr>
              <a:t>. Это указывает на высокий риск недополученной прибыли из-за возможного снижения качества обслуживания крупных столов в пиковые часы.</a:t>
            </a:r>
          </a:p>
          <a:p>
            <a:pPr algn="l">
              <a:spcBef>
                <a:spcPts val="900"/>
              </a:spcBef>
              <a:spcAft>
                <a:spcPts val="900"/>
              </a:spcAft>
              <a:buFont typeface="+mj-lt"/>
              <a:buAutoNum type="arabicPeriod"/>
            </a:pPr>
            <a:r>
              <a:rPr lang="ru-RU" sz="1800" b="1" i="0" u="none" strike="noStrike" dirty="0">
                <a:solidFill>
                  <a:srgbClr val="000000"/>
                </a:solidFill>
                <a:effectLst/>
                <a:latin typeface=""/>
              </a:rPr>
              <a:t>Дерево сегментов (</a:t>
            </a:r>
            <a:r>
              <a:rPr lang="en" sz="1800" b="1" i="0" u="none" strike="noStrike" dirty="0">
                <a:solidFill>
                  <a:srgbClr val="000000"/>
                </a:solidFill>
                <a:effectLst/>
                <a:latin typeface=""/>
              </a:rPr>
              <a:t>Sunburst-</a:t>
            </a:r>
            <a:r>
              <a:rPr lang="ru-RU" sz="1800" b="1" i="0" u="none" strike="noStrike" dirty="0">
                <a:solidFill>
                  <a:srgbClr val="000000"/>
                </a:solidFill>
                <a:effectLst/>
                <a:latin typeface=""/>
              </a:rPr>
              <a:t>диаграмма)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"/>
              </a:rPr>
              <a:t> наглядно подтвердило, что этот уязвимый премиальный сегмент полностью формируется в вечернее время уикенда (</a:t>
            </a:r>
            <a:r>
              <a:rPr lang="en" sz="1800" b="0" i="0" u="none" strike="noStrike" dirty="0">
                <a:solidFill>
                  <a:srgbClr val="000000"/>
                </a:solidFill>
                <a:effectLst/>
                <a:latin typeface=""/>
              </a:rPr>
              <a:t>Saturday/Sunday -&gt; Dinner), 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"/>
              </a:rPr>
              <a:t>который занимает львиную долю в общем пироге выручки. При этом интерактивная модель четко подсветила операционный провал: дневные часы (</a:t>
            </a:r>
            <a:r>
              <a:rPr lang="en" sz="1800" b="0" i="0" u="none" strike="noStrike" dirty="0">
                <a:solidFill>
                  <a:srgbClr val="000000"/>
                </a:solidFill>
                <a:effectLst/>
                <a:latin typeface=""/>
              </a:rPr>
              <a:t>Lunch) 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"/>
              </a:rPr>
              <a:t>в пятницу и выходные полностью выпадают из кассовых сборов заведения, хотя в четверг этот же обеденный сектор успешно генерирует доход.</a:t>
            </a:r>
          </a:p>
          <a:p>
            <a:pPr algn="l">
              <a:spcBef>
                <a:spcPts val="900"/>
              </a:spcBef>
              <a:spcAft>
                <a:spcPts val="1200"/>
              </a:spcAft>
            </a:pPr>
            <a:r>
              <a:rPr lang="ru-RU" sz="1800" b="1" i="0" u="none" strike="noStrike" dirty="0">
                <a:solidFill>
                  <a:srgbClr val="000000"/>
                </a:solidFill>
                <a:effectLst/>
                <a:latin typeface=""/>
              </a:rPr>
              <a:t>Итоговый управленческий баланс: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"/>
              </a:rPr>
              <a:t> Интерактивная визуализация доказала, что для максимизации прибыли менеджменту необходимо сфокусироваться не на абстрактном привлечении клиентов, а на двух точечных зонах: </a:t>
            </a:r>
            <a:r>
              <a:rPr lang="ru-RU" sz="1800" b="1" i="0" u="none" strike="noStrike" dirty="0">
                <a:solidFill>
                  <a:srgbClr val="000000"/>
                </a:solidFill>
                <a:effectLst/>
                <a:latin typeface=""/>
              </a:rPr>
              <a:t>введении жесткого контроля сервиса за дорогими столами в вечерние часы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"/>
              </a:rPr>
              <a:t>(чтобы исключить падение чаевых) и </a:t>
            </a:r>
            <a:r>
              <a:rPr lang="ru-RU" sz="1800" b="1" i="0" u="none" strike="noStrike" dirty="0">
                <a:solidFill>
                  <a:srgbClr val="000000"/>
                </a:solidFill>
                <a:effectLst/>
                <a:latin typeface=""/>
              </a:rPr>
              <a:t>копировании успешного обеденного опыта четверга на дневное время пятницы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"/>
              </a:rPr>
              <a:t> для ликвидации простоя кухни.</a:t>
            </a:r>
          </a:p>
        </p:txBody>
      </p:sp>
    </p:spTree>
    <p:extLst>
      <p:ext uri="{BB962C8B-B14F-4D97-AF65-F5344CB8AC3E}">
        <p14:creationId xmlns:p14="http://schemas.microsoft.com/office/powerpoint/2010/main" val="24252945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0798"/>
    </mc:Choice>
    <mc:Fallback xmlns="">
      <p:transition spd="slow" advTm="40798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5"/>
          <p:cNvSpPr/>
          <p:nvPr/>
        </p:nvSpPr>
        <p:spPr>
          <a:xfrm>
            <a:off x="2946731" y="2728847"/>
            <a:ext cx="6872100" cy="7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lang="ru-RU" sz="4500" b="0" i="0" u="none" strike="noStrike" cap="none" dirty="0">
                <a:solidFill>
                  <a:srgbClr val="0070C0"/>
                </a:solidFill>
                <a:latin typeface=""/>
                <a:ea typeface="Calibri"/>
                <a:cs typeface="Calibri"/>
                <a:sym typeface="Calibri"/>
              </a:rPr>
              <a:t>Благодарю за внимание!</a:t>
            </a:r>
            <a:endParaRPr lang="ru-RU" sz="4500" b="1" i="0" u="none" strike="noStrike" cap="none" dirty="0">
              <a:solidFill>
                <a:srgbClr val="0070C0"/>
              </a:solidFill>
              <a:latin typeface="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518"/>
    </mc:Choice>
    <mc:Fallback xmlns="">
      <p:transition spd="slow" advTm="5518"/>
    </mc:Fallback>
  </mc:AlternateContent>
</p:sld>
</file>

<file path=ppt/theme/theme1.xml><?xml version="1.0" encoding="utf-8"?>
<a:theme xmlns:a="http://schemas.openxmlformats.org/drawingml/2006/main" name="Тема Office">
  <a:themeElements>
    <a:clrScheme name="Другая 13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3052EF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1448</TotalTime>
  <Words>1841</Words>
  <Application>Microsoft Macintosh PowerPoint</Application>
  <PresentationFormat>Широкоэкранный</PresentationFormat>
  <Paragraphs>129</Paragraphs>
  <Slides>13</Slides>
  <Notes>13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21" baseType="lpstr">
      <vt:lpstr>Courier New</vt:lpstr>
      <vt:lpstr>Montserrat Medium</vt:lpstr>
      <vt:lpstr>Montserrat</vt:lpstr>
      <vt:lpstr>Arial</vt:lpstr>
      <vt:lpstr>Montserrat SemiBold</vt:lpstr>
      <vt:lpstr>Calibri</vt:lpstr>
      <vt:lpstr>Wingdings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Промежуточное задание. Математическая проверка продуктовых гипотез</vt:lpstr>
      <vt:lpstr>Презентация PowerPoint</vt:lpstr>
      <vt:lpstr>Презентация PowerPoint</vt:lpstr>
      <vt:lpstr>Общий вывод по интерактивным графикам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Olga Mac</dc:creator>
  <cp:lastModifiedBy>Сергей Пахунов</cp:lastModifiedBy>
  <cp:revision>53</cp:revision>
  <dcterms:modified xsi:type="dcterms:W3CDTF">2026-10-25T14:47:39Z</dcterms:modified>
</cp:coreProperties>
</file>